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6858000" cy="9906000" type="A4"/>
  <p:notesSz cx="6858000" cy="9144000"/>
  <p:embeddedFontLst>
    <p:embeddedFont>
      <p:font typeface="Pretendard" panose="02000503000000020004" pitchFamily="2" charset="-127"/>
      <p:regular r:id="rId4"/>
      <p:bold r:id="rId5"/>
    </p:embeddedFont>
    <p:embeddedFont>
      <p:font typeface="Play"/>
      <p:regular r:id="rId6"/>
      <p:bold r:id="rId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9" roundtripDataSignature="AMtx7miinrLyrwHNW0lvJaI9LZmBWhuzd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E3711A0-DC53-4449-8C1F-37823A9A3693}">
  <a:tblStyle styleId="{EE3711A0-DC53-4449-8C1F-37823A9A3693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9EC"/>
          </a:solidFill>
        </a:fill>
      </a:tcStyle>
    </a:wholeTbl>
    <a:band1H>
      <a:tcTxStyle b="off" i="off"/>
      <a:tcStyle>
        <a:tcBdr/>
        <a:fill>
          <a:solidFill>
            <a:srgbClr val="CAD1D8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AD1D8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C8FCF88F-AA39-4F5A-BD59-89112DDB11C9}" styleName="Table_1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tcBdr/>
        <a:fill>
          <a:solidFill>
            <a:schemeClr val="dk1">
              <a:alpha val="20000"/>
            </a:schemeClr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chemeClr val="dk1">
              <a:alpha val="20000"/>
            </a:schemeClr>
          </a:solidFill>
        </a:fill>
      </a:tcStyle>
    </a:band1V>
    <a:band2V>
      <a:tcTxStyle b="off" i="off"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/>
      <a:tcStyle>
        <a:tcBdr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80" d="100"/>
          <a:sy n="80" d="100"/>
        </p:scale>
        <p:origin x="357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viewProps" Target="viewProps.xml"/><Relationship Id="rId5" Type="http://schemas.openxmlformats.org/officeDocument/2006/relationships/font" Target="fonts/font2.fntdata"/><Relationship Id="rId10" Type="http://schemas.openxmlformats.org/officeDocument/2006/relationships/presProps" Target="presProps.xml"/><Relationship Id="rId4" Type="http://schemas.openxmlformats.org/officeDocument/2006/relationships/font" Target="fonts/font1.fntdata"/><Relationship Id="rId9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350"/>
              <a:buNone/>
              <a:defRPr sz="135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body" idx="1"/>
          </p:nvPr>
        </p:nvSpPr>
        <p:spPr>
          <a:xfrm>
            <a:off x="471488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2"/>
          </p:nvPr>
        </p:nvSpPr>
        <p:spPr>
          <a:xfrm>
            <a:off x="3471863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2"/>
          </p:nvPr>
        </p:nvSpPr>
        <p:spPr>
          <a:xfrm>
            <a:off x="472381" y="3618442"/>
            <a:ext cx="2901255" cy="5322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3"/>
          </p:nvPr>
        </p:nvSpPr>
        <p:spPr>
          <a:xfrm>
            <a:off x="3471863" y="2428347"/>
            <a:ext cx="2915543" cy="1190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4"/>
          </p:nvPr>
        </p:nvSpPr>
        <p:spPr>
          <a:xfrm>
            <a:off x="3471863" y="3618442"/>
            <a:ext cx="2915543" cy="5322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286367" y="2822135"/>
            <a:ext cx="6285266" cy="5915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1449696" y="3985464"/>
            <a:ext cx="8394877" cy="1478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-1550679" y="2549570"/>
            <a:ext cx="8394877" cy="4350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sz="33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4" name="Google Shape;84;p1"/>
          <p:cNvGraphicFramePr/>
          <p:nvPr/>
        </p:nvGraphicFramePr>
        <p:xfrm>
          <a:off x="460562" y="422462"/>
          <a:ext cx="5936875" cy="9061075"/>
        </p:xfrm>
        <a:graphic>
          <a:graphicData uri="http://schemas.openxmlformats.org/drawingml/2006/table">
            <a:tbl>
              <a:tblPr firstRow="1" bandRow="1">
                <a:noFill/>
                <a:tableStyleId>{EE3711A0-DC53-4449-8C1F-37823A9A3693}</a:tableStyleId>
              </a:tblPr>
              <a:tblGrid>
                <a:gridCol w="5936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9061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endParaRPr sz="135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5" name="Google Shape;85;p1"/>
          <p:cNvSpPr txBox="1">
            <a:spLocks noGrp="1"/>
          </p:cNvSpPr>
          <p:nvPr>
            <p:ph type="ctrTitle"/>
          </p:nvPr>
        </p:nvSpPr>
        <p:spPr>
          <a:xfrm>
            <a:off x="514349" y="1216338"/>
            <a:ext cx="5829300" cy="9068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rPr lang="ko-KR" sz="3200" b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수료증</a:t>
            </a:r>
            <a:endParaRPr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86" name="Google Shape;86;p1" descr="패턴, 레드, 예술, 그래픽이(가) 표시된 사진&#10;&#10;자동 생성된 설명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61331" y="8009965"/>
            <a:ext cx="1004046" cy="100404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1467410" y="8269941"/>
            <a:ext cx="2980206" cy="4840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Play"/>
              <a:buNone/>
            </a:pPr>
            <a:r>
              <a:rPr lang="ko-KR" sz="2000" b="1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한국범죄예방교육센터</a:t>
            </a:r>
            <a:endParaRPr sz="1400" b="0" i="0" u="none" strike="noStrike" cap="none">
              <a:solidFill>
                <a:srgbClr val="00000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1709456" y="7192681"/>
            <a:ext cx="3439085" cy="4840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lay"/>
              <a:buNone/>
            </a:pPr>
            <a:r>
              <a:rPr lang="ko-KR" sz="16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발급일자 : 202</a:t>
            </a:r>
            <a:r>
              <a:rPr lang="ko-KR" sz="1600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6</a:t>
            </a:r>
            <a:r>
              <a:rPr lang="ko-KR" sz="16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년 </a:t>
            </a:r>
            <a:r>
              <a:rPr lang="ko-KR" sz="1600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 5</a:t>
            </a:r>
            <a:r>
              <a:rPr lang="ko-KR" sz="16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월 </a:t>
            </a:r>
            <a:r>
              <a:rPr lang="ko-KR" sz="1600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 6</a:t>
            </a:r>
            <a:r>
              <a:rPr lang="ko-KR" sz="16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일</a:t>
            </a:r>
            <a:endParaRPr sz="1400" b="0" i="0" u="none" strike="noStrike" cap="none">
              <a:solidFill>
                <a:srgbClr val="00000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</p:txBody>
      </p:sp>
      <p:pic>
        <p:nvPicPr>
          <p:cNvPr id="89" name="Google Shape;89;p1" descr="텍스트, 원, 폰트, 로고이(가) 표시된 사진&#10;&#10;자동 생성된 설명"/>
          <p:cNvPicPr preferRelativeResize="0"/>
          <p:nvPr/>
        </p:nvPicPr>
        <p:blipFill rotWithShape="1">
          <a:blip r:embed="rId4">
            <a:alphaModFix amt="50000"/>
          </a:blip>
          <a:srcRect/>
          <a:stretch/>
        </p:blipFill>
        <p:spPr>
          <a:xfrm>
            <a:off x="1284194" y="2808194"/>
            <a:ext cx="4289612" cy="4289612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712694" y="565075"/>
            <a:ext cx="5325035" cy="358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</a:pPr>
            <a:r>
              <a:rPr lang="ko-KR" sz="14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증 202</a:t>
            </a:r>
            <a:r>
              <a:rPr lang="ko-KR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6</a:t>
            </a:r>
            <a:r>
              <a:rPr lang="ko-KR" sz="14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-kcpec-</a:t>
            </a:r>
            <a:r>
              <a:rPr lang="ko-KR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8</a:t>
            </a:r>
            <a:r>
              <a:rPr lang="ko-KR" sz="14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0- 000</a:t>
            </a:r>
            <a:r>
              <a:rPr lang="ko-KR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11</a:t>
            </a:r>
            <a:r>
              <a:rPr lang="ko-KR" sz="14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 호   </a:t>
            </a:r>
            <a:endParaRPr sz="1400" b="0" i="0" u="none" strike="noStrike" cap="none">
              <a:solidFill>
                <a:srgbClr val="00000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</p:txBody>
      </p:sp>
      <p:sp>
        <p:nvSpPr>
          <p:cNvPr id="91" name="Google Shape;91;p1"/>
          <p:cNvSpPr txBox="1">
            <a:spLocks noGrp="1"/>
          </p:cNvSpPr>
          <p:nvPr>
            <p:ph type="subTitle" idx="1"/>
          </p:nvPr>
        </p:nvSpPr>
        <p:spPr>
          <a:xfrm>
            <a:off x="813545" y="6104963"/>
            <a:ext cx="5197289" cy="11161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위 사람은 한국범죄예방교육센터에서 실시한</a:t>
            </a:r>
            <a:endParaRPr sz="160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  <a:p>
            <a:pPr marL="0" lvl="0" indent="0" algn="ctr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상기 교육과정을 성실히 이수하였으므로</a:t>
            </a:r>
            <a:endParaRPr sz="160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  <a:p>
            <a:pPr marL="0" lvl="0" indent="0" algn="ctr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본 증서를 수여합니다.</a:t>
            </a:r>
            <a:endParaRPr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aphicFrame>
        <p:nvGraphicFramePr>
          <p:cNvPr id="92" name="Google Shape;92;p1"/>
          <p:cNvGraphicFramePr/>
          <p:nvPr/>
        </p:nvGraphicFramePr>
        <p:xfrm>
          <a:off x="813546" y="2245640"/>
          <a:ext cx="5197275" cy="3659675"/>
        </p:xfrm>
        <a:graphic>
          <a:graphicData uri="http://schemas.openxmlformats.org/drawingml/2006/table">
            <a:tbl>
              <a:tblPr firstRow="1" bandRow="1">
                <a:noFill/>
                <a:tableStyleId>{C8FCF88F-AA39-4F5A-BD59-89112DDB11C9}</a:tableStyleId>
              </a:tblPr>
              <a:tblGrid>
                <a:gridCol w="1035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9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25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</a:rPr>
                        <a:t>이수과정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도박(개장)</a:t>
                      </a: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예방교육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</a:rPr>
                        <a:t>이수일자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/>
                        <a:t>202</a:t>
                      </a:r>
                      <a:r>
                        <a:rPr lang="ko-KR" sz="1200" b="0"/>
                        <a:t>6</a:t>
                      </a:r>
                      <a:r>
                        <a:rPr lang="ko-KR" sz="1200" b="0" u="none" strike="noStrike" cap="none"/>
                        <a:t>년  </a:t>
                      </a:r>
                      <a:r>
                        <a:rPr lang="ko-KR" sz="1200" b="0"/>
                        <a:t>5</a:t>
                      </a:r>
                      <a:r>
                        <a:rPr lang="ko-KR" sz="1200" b="0" u="none" strike="noStrike" cap="none"/>
                        <a:t>월  </a:t>
                      </a:r>
                      <a:r>
                        <a:rPr lang="ko-KR" sz="1200" b="0"/>
                        <a:t>6</a:t>
                      </a:r>
                      <a:r>
                        <a:rPr lang="ko-KR" sz="1200" b="0" u="none" strike="noStrike" cap="none"/>
                        <a:t>일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0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</a:rPr>
                        <a:t>성명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/>
                        <a:t>조 효 상 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생년월일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/>
                        <a:t>  1969</a:t>
                      </a:r>
                      <a:r>
                        <a:rPr lang="ko-KR" sz="1200" u="none" strike="noStrike" cap="none"/>
                        <a:t>년 </a:t>
                      </a:r>
                      <a:r>
                        <a:rPr lang="ko-KR" sz="1200"/>
                        <a:t>12</a:t>
                      </a:r>
                      <a:r>
                        <a:rPr lang="ko-KR" sz="1200" u="none" strike="noStrike" cap="none"/>
                        <a:t>월 </a:t>
                      </a:r>
                      <a:r>
                        <a:rPr lang="ko-KR" sz="1200"/>
                        <a:t>4</a:t>
                      </a:r>
                      <a:r>
                        <a:rPr lang="ko-KR" sz="1200" u="none" strike="noStrike" cap="none"/>
                        <a:t>일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70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endParaRPr sz="1350" b="0" u="none" strike="noStrike" cap="none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/>
                        <a:t>교육내용</a:t>
                      </a:r>
                      <a:endParaRPr sz="14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endParaRPr sz="1350" b="0" u="none" strike="noStrike" cap="none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도박중독의 특징과 진행과정</a:t>
                      </a:r>
                      <a:endParaRPr sz="1200" b="0" u="none" strike="noStrike" cap="none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도박중독의 단계 및 증상</a:t>
                      </a:r>
                      <a:endParaRPr sz="1200" b="0" u="none" strike="noStrike" cap="none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도박중독의 원인</a:t>
                      </a:r>
                      <a:endParaRPr sz="1200" b="0" u="none" strike="noStrike" cap="none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도박 및 도박개장의 위험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도박 및 도박개장의 처벌사례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단도박 성공전략</a:t>
                      </a:r>
                      <a:endParaRPr sz="1350" b="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71</Words>
  <Application>Microsoft Macintosh PowerPoint</Application>
  <PresentationFormat>A4 용지(210x297mm)</PresentationFormat>
  <Paragraphs>24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Pretendard</vt:lpstr>
      <vt:lpstr>Arial</vt:lpstr>
      <vt:lpstr>Play</vt:lpstr>
      <vt:lpstr>Office 테마</vt:lpstr>
      <vt:lpstr>수료증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2983</dc:creator>
  <cp:lastModifiedBy>김나현</cp:lastModifiedBy>
  <cp:revision>1</cp:revision>
  <dcterms:created xsi:type="dcterms:W3CDTF">2024-03-21T05:26:47Z</dcterms:created>
  <dcterms:modified xsi:type="dcterms:W3CDTF">2026-05-08T04:24:13Z</dcterms:modified>
</cp:coreProperties>
</file>