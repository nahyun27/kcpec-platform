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embeddedFontLst>
    <p:embeddedFont>
      <p:font typeface="Pretendard" panose="02000503000000020004" pitchFamily="2" charset="-127"/>
      <p:regular r:id="rId4"/>
      <p:bold r:id="rId5"/>
    </p:embeddedFont>
    <p:embeddedFont>
      <p:font typeface="Play"/>
      <p:regular r:id="rId6"/>
      <p:bold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9" roundtripDataSignature="AMtx7mi3KxCqdTbcKDkorGGlgYzI/7bIO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EB7CD7-ACE4-41FA-8796-D92610E0DF00}">
  <a:tblStyle styleId="{3BEB7CD7-ACE4-41FA-8796-D92610E0DF00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tcBdr/>
        <a:fill>
          <a:solidFill>
            <a:srgbClr val="CAD1D8"/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rgbClr val="CAD1D8"/>
          </a:solidFill>
        </a:fill>
      </a:tcStyle>
    </a:band1V>
    <a:band2V>
      <a:tcTxStyle b="off" i="off"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0E6C63C9-0162-4FF2-A422-A526CF7EA0E2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H>
    <a:band2H>
      <a:tcTxStyle b="off" i="off"/>
      <a:tcStyle>
        <a:tcBdr/>
      </a:tcStyle>
    </a:band2H>
    <a:band1V>
      <a:tcTxStyle b="off" i="off"/>
      <a:tcStyle>
        <a:tcBdr/>
        <a:fill>
          <a:solidFill>
            <a:schemeClr val="dk1">
              <a:alpha val="20000"/>
            </a:schemeClr>
          </a:solidFill>
        </a:fill>
      </a:tcStyle>
    </a:band1V>
    <a:band2V>
      <a:tcTxStyle b="off" i="off"/>
      <a:tcStyle>
        <a:tcBdr/>
      </a:tcStyle>
    </a:band2V>
    <a:lastCol>
      <a:tcTxStyle b="on" i="off"/>
      <a:tcStyle>
        <a:tcBdr/>
      </a:tcStyle>
    </a:lastCol>
    <a:firstCol>
      <a:tcTxStyle b="on" i="off"/>
      <a:tcStyle>
        <a:tcBdr/>
      </a:tcStyle>
    </a:firstCol>
    <a:lastRow>
      <a:tcTxStyle b="on" i="off"/>
      <a:tcStyle>
        <a:tcBdr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n" i="off"/>
      <a:tcStyle>
        <a:tcBdr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80" d="100"/>
          <a:sy n="80" d="100"/>
        </p:scale>
        <p:origin x="3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viewProps" Target="viewProps.xml"/><Relationship Id="rId5" Type="http://schemas.openxmlformats.org/officeDocument/2006/relationships/font" Target="fonts/font2.fntdata"/><Relationship Id="rId10" Type="http://schemas.openxmlformats.org/officeDocument/2006/relationships/presProps" Target="presProps.xml"/><Relationship Id="rId4" Type="http://schemas.openxmlformats.org/officeDocument/2006/relationships/font" Target="fonts/font1.fntdata"/><Relationship Id="rId9" Type="http://customschemas.google.com/relationships/presentationmetadata" Target="meta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41550" y="685800"/>
            <a:ext cx="23749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body" idx="2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2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3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4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5936875" cy="9061075"/>
        </p:xfrm>
        <a:graphic>
          <a:graphicData uri="http://schemas.openxmlformats.org/drawingml/2006/table">
            <a:tbl>
              <a:tblPr firstRow="1" bandRow="1">
                <a:noFill/>
                <a:tableStyleId>{3BEB7CD7-ACE4-41FA-8796-D92610E0DF00}</a:tableStyleId>
              </a:tblPr>
              <a:tblGrid>
                <a:gridCol w="593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90610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85" name="Google Shape;85;p1"/>
          <p:cNvSpPr txBox="1">
            <a:spLocks noGrp="1"/>
          </p:cNvSpPr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lang="ko-KR" sz="3200" b="1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</a:rPr>
              <a:t>수료증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pic>
        <p:nvPicPr>
          <p:cNvPr id="86" name="Google Shape;86;p1" descr="패턴, 레드, 예술, 그래픽이(가) 표시된 사진&#10;&#10;자동 생성된 설명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lang="ko-KR" sz="2000" b="1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한국범죄예방교육센터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년   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5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월</a:t>
            </a:r>
            <a:r>
              <a:rPr lang="ko-KR" sz="1600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   6</a:t>
            </a:r>
            <a:r>
              <a:rPr lang="ko-KR" sz="16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일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pic>
        <p:nvPicPr>
          <p:cNvPr id="89" name="Google Shape;89;p1" descr="텍스트, 원, 폰트, 로고이(가) 표시된 사진&#10;&#10;자동 생성된 설명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6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2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045 </a:t>
            </a:r>
            <a:r>
              <a:rPr lang="ko-KR" sz="1400" b="0" i="0" u="none" strike="noStrike" cap="none">
                <a:solidFill>
                  <a:schemeClr val="dk1"/>
                </a:solidFill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Play"/>
              </a:rPr>
              <a:t>호   </a:t>
            </a:r>
            <a:endParaRPr sz="1400" b="0" i="0" u="none" strike="noStrike" cap="none">
              <a:solidFill>
                <a:srgbClr val="000000"/>
              </a:solidFill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</p:txBody>
      </p:sp>
      <p:sp>
        <p:nvSpPr>
          <p:cNvPr id="91" name="Google Shape;91;p1"/>
          <p:cNvSpPr txBox="1">
            <a:spLocks noGrp="1"/>
          </p:cNvSpPr>
          <p:nvPr>
            <p:ph type="subTitle" idx="1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위 사람은 한국범죄예방교육센터에서 실시한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상기 교육과정을 성실히 이수하였으므로</a:t>
            </a:r>
            <a:endParaRPr sz="1600"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  <a:sym typeface="Arial"/>
            </a:endParaRPr>
          </a:p>
          <a:p>
            <a:pPr marL="0" lvl="0" indent="0" algn="ctr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Pretendard" panose="02000503000000020004" pitchFamily="2" charset="-127"/>
                <a:ea typeface="Pretendard" panose="02000503000000020004" pitchFamily="2" charset="-127"/>
                <a:cs typeface="Pretendard" panose="02000503000000020004" pitchFamily="2" charset="-127"/>
                <a:sym typeface="Arial"/>
              </a:rPr>
              <a:t>본 증서를 수여합니다.</a:t>
            </a:r>
            <a:endParaRPr>
              <a:latin typeface="Pretendard" panose="02000503000000020004" pitchFamily="2" charset="-127"/>
              <a:ea typeface="Pretendard" panose="02000503000000020004" pitchFamily="2" charset="-127"/>
              <a:cs typeface="Pretendard" panose="02000503000000020004" pitchFamily="2" charset="-127"/>
            </a:endParaRPr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5197275" cy="3659675"/>
        </p:xfrm>
        <a:graphic>
          <a:graphicData uri="http://schemas.openxmlformats.org/drawingml/2006/table">
            <a:tbl>
              <a:tblPr firstRow="1" bandRow="1">
                <a:noFill/>
                <a:tableStyleId>{0E6C63C9-0162-4FF2-A422-A526CF7EA0E2}</a:tableStyleId>
              </a:tblPr>
              <a:tblGrid>
                <a:gridCol w="1035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631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9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25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>
                          <a:latin typeface="Arial"/>
                          <a:ea typeface="Arial"/>
                          <a:cs typeface="Arial"/>
                          <a:sym typeface="Arial"/>
                        </a:rPr>
                        <a:t>음주운전</a:t>
                      </a:r>
                      <a:r>
                        <a:rPr lang="ko-KR" sz="1200" b="0" u="none" strike="noStrike" cap="none"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예방교육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/>
                        <a:t> 2026</a:t>
                      </a:r>
                      <a:r>
                        <a:rPr lang="ko-KR" sz="1200" b="0" u="none" strike="noStrike" cap="none"/>
                        <a:t>년  </a:t>
                      </a:r>
                      <a:r>
                        <a:rPr lang="ko-KR" sz="1200" b="0"/>
                        <a:t>5</a:t>
                      </a:r>
                      <a:r>
                        <a:rPr lang="ko-KR" sz="1200" b="0" u="none" strike="noStrike" cap="none"/>
                        <a:t>월  </a:t>
                      </a:r>
                      <a:r>
                        <a:rPr lang="ko-KR" sz="1200" b="0"/>
                        <a:t>6</a:t>
                      </a:r>
                      <a:r>
                        <a:rPr lang="ko-KR" sz="1200" b="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075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</a:rPr>
                        <a:t>성명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오 건 희 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strike="noStrike" cap="none"/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1986</a:t>
                      </a:r>
                      <a:r>
                        <a:rPr lang="ko-KR" sz="1200" u="none" strike="noStrike" cap="none"/>
                        <a:t>년</a:t>
                      </a:r>
                      <a:r>
                        <a:rPr lang="ko-KR" sz="1200"/>
                        <a:t>  8</a:t>
                      </a:r>
                      <a:r>
                        <a:rPr lang="ko-KR" sz="1200" u="none" strike="noStrike" cap="none"/>
                        <a:t>월 </a:t>
                      </a:r>
                      <a:r>
                        <a:rPr lang="ko-KR" sz="1200"/>
                        <a:t> 4</a:t>
                      </a:r>
                      <a:r>
                        <a:rPr lang="ko-KR" sz="1200" u="none" strike="noStrike" cap="none"/>
                        <a:t>일</a:t>
                      </a:r>
                      <a:endParaRPr sz="1200" b="0" u="none" strike="noStrike" cap="non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70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 b="0" u="none" strike="noStrike" cap="none"/>
                        <a:t>교육내용</a:t>
                      </a:r>
                      <a:endParaRPr sz="14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endParaRPr sz="1350" b="0" u="none" strike="noStrike" cap="none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음주운전의 개념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음주운전의 위험성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음주운전의 법적책임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음주와 운전능력의 상관관계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음주로 인한 사회적, 경제적 손실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음주운전을 하게 되는 4가지 유형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음주운전 예방전략</a:t>
                      </a:r>
                      <a:endParaRPr sz="1200"/>
                    </a:p>
                    <a:p>
                      <a:pPr marL="228600" marR="0" lvl="0" indent="-22860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음주 습관관리 실천방안</a:t>
                      </a:r>
                      <a:endParaRPr sz="1200" u="none" strike="noStrike" cap="none"/>
                    </a:p>
                  </a:txBody>
                  <a:tcPr marL="91450" marR="91450" marT="45725" marB="45725">
                    <a:lnL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747474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76</Words>
  <Application>Microsoft Macintosh PowerPoint</Application>
  <PresentationFormat>A4 용지(210x297mm)</PresentationFormat>
  <Paragraphs>26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5" baseType="lpstr">
      <vt:lpstr>Pretendard</vt:lpstr>
      <vt:lpstr>Arial</vt:lpstr>
      <vt:lpstr>Play</vt:lpstr>
      <vt:lpstr>Office 테마</vt:lpstr>
      <vt:lpstr>수료증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2983</dc:creator>
  <cp:lastModifiedBy>김나현</cp:lastModifiedBy>
  <cp:revision>1</cp:revision>
  <dcterms:created xsi:type="dcterms:W3CDTF">2024-03-21T05:26:47Z</dcterms:created>
  <dcterms:modified xsi:type="dcterms:W3CDTF">2026-05-08T04:23:20Z</dcterms:modified>
</cp:coreProperties>
</file>