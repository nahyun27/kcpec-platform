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6858000" cy="9906000" type="A4"/>
  <p:notesSz cx="6858000" cy="9144000"/>
  <p:embeddedFontLst>
    <p:embeddedFont>
      <p:font typeface="Play" panose="020B0600000101010101" charset="0"/>
      <p:regular r:id="rId4"/>
      <p:bold r:id="rId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9" roundtripDataSignature="AMtx7mgLBBCiBHQOdL5dH5/HpMZrtzC/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A4CA60C-AE1B-4565-83A6-60A876B977B0}">
  <a:tblStyle styleId="{4A4CA60C-AE1B-4565-83A6-60A876B977B0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9EC"/>
          </a:solidFill>
        </a:fill>
      </a:tcStyle>
    </a:wholeTbl>
    <a:band1H>
      <a:tcTxStyle b="off" i="off"/>
      <a:tcStyle>
        <a:tcBdr/>
        <a:fill>
          <a:solidFill>
            <a:srgbClr val="CAD1D8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AD1D8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1F8A2453-2C4A-4537-922A-DB7612E4EEDE}" styleName="Table_1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  <a:fill>
          <a:solidFill>
            <a:schemeClr val="dk1">
              <a:alpha val="20000"/>
            </a:schemeClr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chemeClr val="dk1">
              <a:alpha val="20000"/>
            </a:schemeClr>
          </a:solidFill>
        </a:fill>
      </a:tcStyle>
    </a:band1V>
    <a:band2V>
      <a:tcTxStyle b="off" i="off"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/>
      <a:tcStyle>
        <a:tcBdr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2094" y="-3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viewProps" Target="viewProps.xml"/><Relationship Id="rId5" Type="http://schemas.openxmlformats.org/officeDocument/2006/relationships/font" Target="fonts/font2.fntdata"/><Relationship Id="rId10" Type="http://schemas.openxmlformats.org/officeDocument/2006/relationships/presProps" Target="presProps.xml"/><Relationship Id="rId4" Type="http://schemas.openxmlformats.org/officeDocument/2006/relationships/font" Target="fonts/font1.fntdata"/><Relationship Id="rId9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41550" y="685800"/>
            <a:ext cx="23749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350"/>
              <a:buNone/>
              <a:defRPr sz="135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body" idx="1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body" idx="2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2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3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4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1449696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sz="33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" name="Google Shape;84;p1"/>
          <p:cNvGraphicFramePr/>
          <p:nvPr/>
        </p:nvGraphicFramePr>
        <p:xfrm>
          <a:off x="460562" y="422462"/>
          <a:ext cx="5936875" cy="9061075"/>
        </p:xfrm>
        <a:graphic>
          <a:graphicData uri="http://schemas.openxmlformats.org/drawingml/2006/table">
            <a:tbl>
              <a:tblPr firstRow="1" bandRow="1">
                <a:noFill/>
                <a:tableStyleId>{4A4CA60C-AE1B-4565-83A6-60A876B977B0}</a:tableStyleId>
              </a:tblPr>
              <a:tblGrid>
                <a:gridCol w="5936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061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endParaRPr sz="13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5" name="Google Shape;85;p1"/>
          <p:cNvSpPr txBox="1">
            <a:spLocks noGrp="1"/>
          </p:cNvSpPr>
          <p:nvPr>
            <p:ph type="ctrTitle"/>
          </p:nvPr>
        </p:nvSpPr>
        <p:spPr>
          <a:xfrm>
            <a:off x="514349" y="1216338"/>
            <a:ext cx="5829300" cy="906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</a:pPr>
            <a:r>
              <a:rPr lang="ko-KR" sz="3200" b="1"/>
              <a:t>수료증</a:t>
            </a:r>
            <a:endParaRPr/>
          </a:p>
        </p:txBody>
      </p:sp>
      <p:pic>
        <p:nvPicPr>
          <p:cNvPr id="86" name="Google Shape;86;p1" descr="패턴, 레드, 예술, 그래픽이(가) 표시된 사진  자동 생성된 설명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61331" y="8009965"/>
            <a:ext cx="1004046" cy="1004046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/>
        </p:nvSpPr>
        <p:spPr>
          <a:xfrm>
            <a:off x="1467410" y="8269941"/>
            <a:ext cx="2980206" cy="48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None/>
            </a:pPr>
            <a:r>
              <a:rPr lang="ko-KR" sz="2000" b="1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한국범죄예방교육센터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1709456" y="7192681"/>
            <a:ext cx="3439085" cy="48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lay"/>
              <a:buNone/>
            </a:pPr>
            <a:r>
              <a:rPr lang="ko-KR" sz="1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발급일자 : 202</a:t>
            </a:r>
            <a:r>
              <a:rPr lang="ko-KR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6</a:t>
            </a:r>
            <a:r>
              <a:rPr lang="ko-KR" sz="1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년 </a:t>
            </a:r>
            <a:r>
              <a:rPr lang="ko-KR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    </a:t>
            </a:r>
            <a:r>
              <a:rPr lang="ko-KR" sz="1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월  </a:t>
            </a:r>
            <a:r>
              <a:rPr lang="ko-KR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     </a:t>
            </a:r>
            <a:r>
              <a:rPr lang="ko-KR" sz="1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일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9" name="Google Shape;89;p1" descr="텍스트, 원, 폰트, 로고이(가) 표시된 사진  자동 생성된 설명"/>
          <p:cNvPicPr preferRelativeResize="0"/>
          <p:nvPr/>
        </p:nvPicPr>
        <p:blipFill rotWithShape="1">
          <a:blip r:embed="rId4">
            <a:alphaModFix amt="50000"/>
          </a:blip>
          <a:srcRect/>
          <a:stretch/>
        </p:blipFill>
        <p:spPr>
          <a:xfrm>
            <a:off x="1284194" y="2808194"/>
            <a:ext cx="4289612" cy="4289612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 txBox="1"/>
          <p:nvPr/>
        </p:nvSpPr>
        <p:spPr>
          <a:xfrm>
            <a:off x="712694" y="565075"/>
            <a:ext cx="5325035" cy="358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</a:pPr>
            <a:r>
              <a:rPr lang="ko-KR" sz="1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증 202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6</a:t>
            </a:r>
            <a:r>
              <a:rPr lang="ko-KR" sz="1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-kcpec-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12</a:t>
            </a:r>
            <a:r>
              <a:rPr lang="ko-KR" sz="1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0- 000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00</a:t>
            </a:r>
            <a:r>
              <a:rPr lang="ko-KR" sz="1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 호 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>
            <a:spLocks noGrp="1"/>
          </p:cNvSpPr>
          <p:nvPr>
            <p:ph type="subTitle" idx="1"/>
          </p:nvPr>
        </p:nvSpPr>
        <p:spPr>
          <a:xfrm>
            <a:off x="813545" y="6104963"/>
            <a:ext cx="5197289" cy="1116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위 사람은 한국범죄예방교육센터에서 실시한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상기 교육과정을 성실히 이수하였으므로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본 증서를 수여합니다.</a:t>
            </a:r>
            <a:endParaRPr/>
          </a:p>
        </p:txBody>
      </p:sp>
      <p:graphicFrame>
        <p:nvGraphicFramePr>
          <p:cNvPr id="92" name="Google Shape;92;p1"/>
          <p:cNvGraphicFramePr/>
          <p:nvPr>
            <p:extLst>
              <p:ext uri="{D42A27DB-BD31-4B8C-83A1-F6EECF244321}">
                <p14:modId xmlns:p14="http://schemas.microsoft.com/office/powerpoint/2010/main" val="1607112454"/>
              </p:ext>
            </p:extLst>
          </p:nvPr>
        </p:nvGraphicFramePr>
        <p:xfrm>
          <a:off x="813546" y="2245640"/>
          <a:ext cx="5197275" cy="3659675"/>
        </p:xfrm>
        <a:graphic>
          <a:graphicData uri="http://schemas.openxmlformats.org/drawingml/2006/table">
            <a:tbl>
              <a:tblPr firstRow="1" bandRow="1">
                <a:noFill/>
                <a:tableStyleId>{1F8A2453-2C4A-4537-922A-DB7612E4EEDE}</a:tableStyleId>
              </a:tblPr>
              <a:tblGrid>
                <a:gridCol w="1035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3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9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2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b="0" u="none" strike="noStrike" cap="none">
                          <a:solidFill>
                            <a:schemeClr val="dk1"/>
                          </a:solidFill>
                        </a:rPr>
                        <a:t>이수과정</a:t>
                      </a:r>
                      <a:endParaRPr sz="12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폭력범죄 예방교육</a:t>
                      </a:r>
                      <a:endParaRPr sz="12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b="0" u="none" strike="noStrike" cap="none" dirty="0">
                          <a:solidFill>
                            <a:schemeClr val="dk1"/>
                          </a:solidFill>
                        </a:rPr>
                        <a:t>이수일자</a:t>
                      </a:r>
                      <a:endParaRPr sz="12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altLang="ko-KR" sz="1200" b="0" dirty="0"/>
                        <a:t>2026</a:t>
                      </a:r>
                      <a:r>
                        <a:rPr lang="ko-KR" sz="1200" b="0" dirty="0"/>
                        <a:t>년  </a:t>
                      </a:r>
                      <a:r>
                        <a:rPr lang="en-US" altLang="ko-KR" sz="1200" b="0" dirty="0"/>
                        <a:t>12</a:t>
                      </a:r>
                      <a:r>
                        <a:rPr lang="ko-KR" sz="1200" b="0" dirty="0"/>
                        <a:t>월  </a:t>
                      </a:r>
                      <a:r>
                        <a:rPr lang="en-US" altLang="ko-KR" sz="1200" b="0" dirty="0"/>
                        <a:t>12</a:t>
                      </a:r>
                      <a:r>
                        <a:rPr lang="ko-KR" sz="1200" b="0" dirty="0"/>
                        <a:t>일</a:t>
                      </a:r>
                      <a:endParaRPr sz="12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0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b="0" u="none" strike="noStrike" cap="none">
                          <a:solidFill>
                            <a:schemeClr val="dk1"/>
                          </a:solidFill>
                        </a:rPr>
                        <a:t>성명</a:t>
                      </a:r>
                      <a:endParaRPr sz="12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altLang="en-US" sz="12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홍길동</a:t>
                      </a:r>
                      <a:r>
                        <a:rPr lang="ko-KR" sz="12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            </a:t>
                      </a:r>
                      <a:endParaRPr sz="12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생년월일</a:t>
                      </a:r>
                      <a:endParaRPr sz="1400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altLang="ko-KR" sz="1200" dirty="0"/>
                        <a:t>2026</a:t>
                      </a:r>
                      <a:r>
                        <a:rPr lang="ko-KR" sz="1200" dirty="0"/>
                        <a:t>년  </a:t>
                      </a:r>
                      <a:r>
                        <a:rPr lang="en-US" altLang="ko-KR" sz="1200" dirty="0"/>
                        <a:t>12</a:t>
                      </a:r>
                      <a:r>
                        <a:rPr lang="ko-KR" sz="1200" dirty="0"/>
                        <a:t>월  </a:t>
                      </a:r>
                      <a:r>
                        <a:rPr lang="en-US" altLang="ko-KR" sz="1200" dirty="0"/>
                        <a:t>12</a:t>
                      </a:r>
                      <a:r>
                        <a:rPr lang="ko-KR" sz="1200" dirty="0"/>
                        <a:t>일</a:t>
                      </a:r>
                      <a:endParaRPr sz="12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70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endParaRPr sz="1350" b="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b="0" u="none" strike="noStrike" cap="none"/>
                        <a:t>교육내용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endParaRPr sz="1350" b="0" u="none" strike="noStrike" cap="none" dirty="0"/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 dirty="0"/>
                        <a:t>폭력범죄의 의미와 유형</a:t>
                      </a:r>
                      <a:endParaRPr sz="1200" dirty="0"/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 dirty="0"/>
                        <a:t>폭력범죄 관련 법령과 처벌규정</a:t>
                      </a:r>
                      <a:endParaRPr sz="1200" dirty="0"/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 dirty="0" err="1"/>
                        <a:t>폭행·상해의</a:t>
                      </a:r>
                      <a:r>
                        <a:rPr lang="ko-KR" sz="1200" dirty="0"/>
                        <a:t> 구성요건</a:t>
                      </a:r>
                      <a:endParaRPr sz="1200" dirty="0"/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 dirty="0" err="1"/>
                        <a:t>특수폭행·집단폭행의</a:t>
                      </a:r>
                      <a:r>
                        <a:rPr lang="ko-KR" sz="1200" dirty="0"/>
                        <a:t> 가중처벌</a:t>
                      </a:r>
                      <a:endParaRPr sz="1200" dirty="0"/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 dirty="0"/>
                        <a:t>폭력범죄의 형종 및 형량</a:t>
                      </a:r>
                      <a:endParaRPr sz="1200" dirty="0"/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 dirty="0"/>
                        <a:t>폭력범죄의 </a:t>
                      </a:r>
                      <a:r>
                        <a:rPr lang="ko-KR" sz="1200" dirty="0" err="1"/>
                        <a:t>양형인자</a:t>
                      </a:r>
                      <a:endParaRPr sz="1200" dirty="0"/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 dirty="0"/>
                        <a:t>폭력범죄 처벌사례</a:t>
                      </a:r>
                      <a:endParaRPr sz="1200" dirty="0"/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 dirty="0"/>
                        <a:t>폭력범죄 예방을 위한 실천전략</a:t>
                      </a:r>
                      <a:endParaRPr sz="12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</Words>
  <Application>Microsoft Office PowerPoint</Application>
  <PresentationFormat>A4 용지(210x297mm)</PresentationFormat>
  <Paragraphs>26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Play</vt:lpstr>
      <vt:lpstr>Arial</vt:lpstr>
      <vt:lpstr>Office 테마</vt:lpstr>
      <vt:lpstr>수료증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2983</dc:creator>
  <cp:lastModifiedBy>윤승진 변호사</cp:lastModifiedBy>
  <cp:revision>1</cp:revision>
  <dcterms:created xsi:type="dcterms:W3CDTF">2024-03-21T05:26:47Z</dcterms:created>
  <dcterms:modified xsi:type="dcterms:W3CDTF">2026-07-03T05:19:42Z</dcterms:modified>
</cp:coreProperties>
</file>