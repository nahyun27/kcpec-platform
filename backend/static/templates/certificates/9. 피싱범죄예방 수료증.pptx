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6858000" cy="9906000" type="A4"/>
  <p:notesSz cx="6858000" cy="9144000"/>
  <p:embeddedFontLst>
    <p:embeddedFont>
      <p:font typeface="Pretendard" panose="02000503000000020004" pitchFamily="2" charset="-127"/>
      <p:regular r:id="rId4"/>
      <p:bold r:id="rId5"/>
    </p:embeddedFont>
    <p:embeddedFont>
      <p:font typeface="Play"/>
      <p:regular r:id="rId6"/>
      <p:bold r:id="rId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9" roundtripDataSignature="AMtx7mja0ZgZpyvIrYBIqLgixEswif+5Y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7A28297F-DCDB-4C0D-BBA4-A6FE65AD7647}">
  <a:tblStyle styleId="{7A28297F-DCDB-4C0D-BBA4-A6FE65AD7647}" styleName="Table_0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7E9EC"/>
          </a:solidFill>
        </a:fill>
      </a:tcStyle>
    </a:wholeTbl>
    <a:band1H>
      <a:tcTxStyle b="off" i="off"/>
      <a:tcStyle>
        <a:tcBdr/>
        <a:fill>
          <a:solidFill>
            <a:srgbClr val="CAD1D8"/>
          </a:solidFill>
        </a:fill>
      </a:tcStyle>
    </a:band1H>
    <a:band2H>
      <a:tcTxStyle b="off" i="off"/>
      <a:tcStyle>
        <a:tcBdr/>
      </a:tcStyle>
    </a:band2H>
    <a:band1V>
      <a:tcTxStyle b="off" i="off"/>
      <a:tcStyle>
        <a:tcBdr/>
        <a:fill>
          <a:solidFill>
            <a:srgbClr val="CAD1D8"/>
          </a:solidFill>
        </a:fill>
      </a:tcStyle>
    </a:band1V>
    <a:band2V>
      <a:tcTxStyle b="off" i="off"/>
      <a:tcStyle>
        <a:tcBdr/>
      </a:tcStyle>
    </a:band2V>
    <a:lastCol>
      <a:tcTxStyle b="on" i="off">
        <a:font>
          <a:latin typeface="Aptos"/>
          <a:ea typeface="Aptos"/>
          <a:cs typeface="Aptos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Aptos"/>
          <a:ea typeface="Aptos"/>
          <a:cs typeface="Aptos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  <a:tblStyle styleId="{237AC679-0A41-4AD5-9BE9-B910355D5567}" styleName="Table_1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  <a:tcStyle>
        <a:tcBdr/>
        <a:fill>
          <a:solidFill>
            <a:schemeClr val="dk1">
              <a:alpha val="20000"/>
            </a:schemeClr>
          </a:solidFill>
        </a:fill>
      </a:tcStyle>
    </a:band1H>
    <a:band2H>
      <a:tcTxStyle b="off" i="off"/>
      <a:tcStyle>
        <a:tcBdr/>
      </a:tcStyle>
    </a:band2H>
    <a:band1V>
      <a:tcTxStyle b="off" i="off"/>
      <a:tcStyle>
        <a:tcBdr/>
        <a:fill>
          <a:solidFill>
            <a:schemeClr val="dk1">
              <a:alpha val="20000"/>
            </a:schemeClr>
          </a:solidFill>
        </a:fill>
      </a:tcStyle>
    </a:band1V>
    <a:band2V>
      <a:tcTxStyle b="off" i="off"/>
      <a:tcStyle>
        <a:tcBdr/>
      </a:tcStyle>
    </a:band2V>
    <a:lastCol>
      <a:tcTxStyle b="on" i="off"/>
      <a:tcStyle>
        <a:tcBdr/>
      </a:tcStyle>
    </a:lastCol>
    <a:firstCol>
      <a:tcTxStyle b="on" i="off"/>
      <a:tcStyle>
        <a:tcBdr/>
      </a:tcStyle>
    </a:firstCol>
    <a:lastRow>
      <a:tcTxStyle b="on" i="off"/>
      <a:tcStyle>
        <a:tcBdr>
          <a:top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rgbClr val="FFFFFF">
              <a:alpha val="0"/>
            </a:srgbClr>
          </a:solidFill>
        </a:fill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n" i="off"/>
      <a:tcStyle>
        <a:tcBdr>
          <a:bottom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rgbClr val="FFFFFF">
              <a:alpha val="0"/>
            </a:srgbClr>
          </a:solidFill>
        </a:fill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80" d="100"/>
          <a:sy n="80" d="100"/>
        </p:scale>
        <p:origin x="357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font" Target="fonts/font4.fntdata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11" Type="http://schemas.openxmlformats.org/officeDocument/2006/relationships/viewProps" Target="viewProps.xml"/><Relationship Id="rId5" Type="http://schemas.openxmlformats.org/officeDocument/2006/relationships/font" Target="fonts/font2.fntdata"/><Relationship Id="rId10" Type="http://schemas.openxmlformats.org/officeDocument/2006/relationships/presProps" Target="presProps.xml"/><Relationship Id="rId4" Type="http://schemas.openxmlformats.org/officeDocument/2006/relationships/font" Target="fonts/font1.fntdata"/><Relationship Id="rId9" Type="http://customschemas.google.com/relationships/presentationmetadata" Target="meta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41550" y="685800"/>
            <a:ext cx="23749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슬라이드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/>
            </a:lvl3pPr>
            <a:lvl4pPr lvl="3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dt" idx="10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ftr" idx="11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sldNum" idx="12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내용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dt" idx="10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ftr" idx="11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sldNum" idx="12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구역 머리글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500"/>
              <a:buNone/>
              <a:defRPr sz="1500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350"/>
              <a:buNone/>
              <a:defRPr sz="1350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dt" idx="10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ftr" idx="11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sldNum" idx="12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콘텐츠 2개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body" idx="1"/>
          </p:nvPr>
        </p:nvSpPr>
        <p:spPr>
          <a:xfrm>
            <a:off x="471488" y="2637014"/>
            <a:ext cx="2914650" cy="62852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body" idx="2"/>
          </p:nvPr>
        </p:nvSpPr>
        <p:spPr>
          <a:xfrm>
            <a:off x="3471863" y="2637014"/>
            <a:ext cx="2914650" cy="62852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6"/>
          <p:cNvSpPr txBox="1">
            <a:spLocks noGrp="1"/>
          </p:cNvSpPr>
          <p:nvPr>
            <p:ph type="dt" idx="10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6"/>
          <p:cNvSpPr txBox="1">
            <a:spLocks noGrp="1"/>
          </p:cNvSpPr>
          <p:nvPr>
            <p:ph type="ftr" idx="11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sldNum" idx="12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비교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 txBox="1"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 b="1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body" idx="2"/>
          </p:nvPr>
        </p:nvSpPr>
        <p:spPr>
          <a:xfrm>
            <a:off x="472381" y="3618442"/>
            <a:ext cx="2901255" cy="53221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body" idx="3"/>
          </p:nvPr>
        </p:nvSpPr>
        <p:spPr>
          <a:xfrm>
            <a:off x="3471863" y="2428347"/>
            <a:ext cx="2915543" cy="11900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 b="1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1" name="Google Shape;41;p7"/>
          <p:cNvSpPr txBox="1">
            <a:spLocks noGrp="1"/>
          </p:cNvSpPr>
          <p:nvPr>
            <p:ph type="body" idx="4"/>
          </p:nvPr>
        </p:nvSpPr>
        <p:spPr>
          <a:xfrm>
            <a:off x="3471863" y="3618442"/>
            <a:ext cx="2915543" cy="53221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dt" idx="10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ftr" idx="11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sldNum" idx="12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만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dt" idx="10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ftr" idx="11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sldNum" idx="12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빈 화면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>
            <a:spLocks noGrp="1"/>
          </p:cNvSpPr>
          <p:nvPr>
            <p:ph type="dt" idx="10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ftr" idx="11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sldNum" idx="12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콘텐츠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body" idx="1"/>
          </p:nvPr>
        </p:nvSpPr>
        <p:spPr>
          <a:xfrm>
            <a:off x="2915543" y="1426283"/>
            <a:ext cx="3471863" cy="7039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body" idx="2"/>
          </p:nvPr>
        </p:nvSpPr>
        <p:spPr>
          <a:xfrm>
            <a:off x="472381" y="2971800"/>
            <a:ext cx="2211884" cy="55056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1050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>
            <a:endParaRPr/>
          </a:p>
        </p:txBody>
      </p:sp>
      <p:sp>
        <p:nvSpPr>
          <p:cNvPr id="58" name="Google Shape;58;p10"/>
          <p:cNvSpPr txBox="1">
            <a:spLocks noGrp="1"/>
          </p:cNvSpPr>
          <p:nvPr>
            <p:ph type="dt" idx="10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0"/>
          <p:cNvSpPr txBox="1">
            <a:spLocks noGrp="1"/>
          </p:cNvSpPr>
          <p:nvPr>
            <p:ph type="ftr" idx="11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sldNum" idx="12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그림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1"/>
          <p:cNvSpPr txBox="1"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1"/>
          <p:cNvSpPr>
            <a:spLocks noGrp="1"/>
          </p:cNvSpPr>
          <p:nvPr>
            <p:ph type="pic" idx="2"/>
          </p:nvPr>
        </p:nvSpPr>
        <p:spPr>
          <a:xfrm>
            <a:off x="2915543" y="1426283"/>
            <a:ext cx="3471863" cy="7039681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1"/>
          <p:cNvSpPr txBox="1">
            <a:spLocks noGrp="1"/>
          </p:cNvSpPr>
          <p:nvPr>
            <p:ph type="body" idx="1"/>
          </p:nvPr>
        </p:nvSpPr>
        <p:spPr>
          <a:xfrm>
            <a:off x="472381" y="2971800"/>
            <a:ext cx="2211884" cy="55056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1050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>
            <a:endParaRPr/>
          </a:p>
        </p:txBody>
      </p:sp>
      <p:sp>
        <p:nvSpPr>
          <p:cNvPr id="65" name="Google Shape;65;p11"/>
          <p:cNvSpPr txBox="1">
            <a:spLocks noGrp="1"/>
          </p:cNvSpPr>
          <p:nvPr>
            <p:ph type="dt" idx="10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1"/>
          <p:cNvSpPr txBox="1">
            <a:spLocks noGrp="1"/>
          </p:cNvSpPr>
          <p:nvPr>
            <p:ph type="ftr" idx="11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 txBox="1">
            <a:spLocks noGrp="1"/>
          </p:cNvSpPr>
          <p:nvPr>
            <p:ph type="sldNum" idx="12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세로 텍스트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2"/>
          <p:cNvSpPr txBox="1">
            <a:spLocks noGrp="1"/>
          </p:cNvSpPr>
          <p:nvPr>
            <p:ph type="body" idx="1"/>
          </p:nvPr>
        </p:nvSpPr>
        <p:spPr>
          <a:xfrm rot="5400000">
            <a:off x="286367" y="2822135"/>
            <a:ext cx="6285266" cy="5915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2"/>
          <p:cNvSpPr txBox="1">
            <a:spLocks noGrp="1"/>
          </p:cNvSpPr>
          <p:nvPr>
            <p:ph type="dt" idx="10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2"/>
          <p:cNvSpPr txBox="1">
            <a:spLocks noGrp="1"/>
          </p:cNvSpPr>
          <p:nvPr>
            <p:ph type="ftr" idx="11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2"/>
          <p:cNvSpPr txBox="1">
            <a:spLocks noGrp="1"/>
          </p:cNvSpPr>
          <p:nvPr>
            <p:ph type="sldNum" idx="12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세로 제목 및 텍스트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>
            <a:spLocks noGrp="1"/>
          </p:cNvSpPr>
          <p:nvPr>
            <p:ph type="title"/>
          </p:nvPr>
        </p:nvSpPr>
        <p:spPr>
          <a:xfrm rot="5400000">
            <a:off x="1449696" y="3985464"/>
            <a:ext cx="8394877" cy="14787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body" idx="1"/>
          </p:nvPr>
        </p:nvSpPr>
        <p:spPr>
          <a:xfrm rot="5400000">
            <a:off x="-1550679" y="2549570"/>
            <a:ext cx="8394877" cy="43505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3"/>
          <p:cNvSpPr txBox="1">
            <a:spLocks noGrp="1"/>
          </p:cNvSpPr>
          <p:nvPr>
            <p:ph type="dt" idx="10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3"/>
          <p:cNvSpPr txBox="1">
            <a:spLocks noGrp="1"/>
          </p:cNvSpPr>
          <p:nvPr>
            <p:ph type="ftr" idx="11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3"/>
          <p:cNvSpPr txBox="1">
            <a:spLocks noGrp="1"/>
          </p:cNvSpPr>
          <p:nvPr>
            <p:ph type="sldNum" idx="12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"/>
          <p:cNvSpPr txBox="1"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  <a:defRPr sz="33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2"/>
          <p:cNvSpPr txBox="1"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2"/>
          <p:cNvSpPr txBox="1">
            <a:spLocks noGrp="1"/>
          </p:cNvSpPr>
          <p:nvPr>
            <p:ph type="dt" idx="10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Google Shape;9;p2"/>
          <p:cNvSpPr txBox="1">
            <a:spLocks noGrp="1"/>
          </p:cNvSpPr>
          <p:nvPr>
            <p:ph type="ftr" idx="11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ldNum" idx="12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4" name="Google Shape;84;p1"/>
          <p:cNvGraphicFramePr/>
          <p:nvPr/>
        </p:nvGraphicFramePr>
        <p:xfrm>
          <a:off x="460562" y="422462"/>
          <a:ext cx="5936875" cy="9061075"/>
        </p:xfrm>
        <a:graphic>
          <a:graphicData uri="http://schemas.openxmlformats.org/drawingml/2006/table">
            <a:tbl>
              <a:tblPr firstRow="1" bandRow="1">
                <a:noFill/>
                <a:tableStyleId>{7A28297F-DCDB-4C0D-BBA4-A6FE65AD7647}</a:tableStyleId>
              </a:tblPr>
              <a:tblGrid>
                <a:gridCol w="5936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90610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endParaRPr sz="1350" u="none" strike="noStrike" cap="none"/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85" name="Google Shape;85;p1"/>
          <p:cNvSpPr txBox="1">
            <a:spLocks noGrp="1"/>
          </p:cNvSpPr>
          <p:nvPr>
            <p:ph type="ctrTitle"/>
          </p:nvPr>
        </p:nvSpPr>
        <p:spPr>
          <a:xfrm>
            <a:off x="514349" y="1216338"/>
            <a:ext cx="5829300" cy="9068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</a:pPr>
            <a:r>
              <a:rPr lang="ko-KR" sz="3200" b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수료증</a:t>
            </a:r>
            <a:endParaRPr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pic>
        <p:nvPicPr>
          <p:cNvPr id="86" name="Google Shape;86;p1" descr="패턴, 레드, 예술, 그래픽이(가) 표시된 사진&#10;&#10;자동 생성된 설명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361331" y="8009965"/>
            <a:ext cx="1004046" cy="1004046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"/>
          <p:cNvSpPr txBox="1"/>
          <p:nvPr/>
        </p:nvSpPr>
        <p:spPr>
          <a:xfrm>
            <a:off x="1467410" y="8269941"/>
            <a:ext cx="2980206" cy="4840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Play"/>
              <a:buNone/>
            </a:pPr>
            <a:r>
              <a:rPr lang="ko-KR" sz="2000" b="1" i="0" u="none" strike="noStrike" cap="none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한국범죄예방교육센터</a:t>
            </a:r>
            <a:endParaRPr sz="1400" b="0" i="0" u="none" strike="noStrike" cap="none">
              <a:solidFill>
                <a:srgbClr val="00000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  <a:sym typeface="Arial"/>
            </a:endParaRPr>
          </a:p>
        </p:txBody>
      </p:sp>
      <p:sp>
        <p:nvSpPr>
          <p:cNvPr id="88" name="Google Shape;88;p1"/>
          <p:cNvSpPr txBox="1"/>
          <p:nvPr/>
        </p:nvSpPr>
        <p:spPr>
          <a:xfrm>
            <a:off x="1709456" y="7192681"/>
            <a:ext cx="3439085" cy="4840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lay"/>
              <a:buNone/>
            </a:pPr>
            <a:r>
              <a:rPr lang="ko-KR" sz="1600" b="0" i="0" u="none" strike="noStrike" cap="none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발급일자 : 202</a:t>
            </a:r>
            <a:r>
              <a:rPr lang="ko-KR" sz="1600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6</a:t>
            </a:r>
            <a:r>
              <a:rPr lang="ko-KR" sz="1600" b="0" i="0" u="none" strike="noStrike" cap="none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년  </a:t>
            </a:r>
            <a:r>
              <a:rPr lang="ko-KR" sz="1600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3</a:t>
            </a:r>
            <a:r>
              <a:rPr lang="ko-KR" sz="1600" b="0" i="0" u="none" strike="noStrike" cap="none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월</a:t>
            </a:r>
            <a:r>
              <a:rPr lang="ko-KR" sz="1600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  19</a:t>
            </a:r>
            <a:r>
              <a:rPr lang="ko-KR" sz="1600" b="0" i="0" u="none" strike="noStrike" cap="none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일</a:t>
            </a:r>
            <a:endParaRPr sz="1400" b="0" i="0" u="none" strike="noStrike" cap="none">
              <a:solidFill>
                <a:srgbClr val="00000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  <a:sym typeface="Arial"/>
            </a:endParaRPr>
          </a:p>
        </p:txBody>
      </p:sp>
      <p:pic>
        <p:nvPicPr>
          <p:cNvPr id="89" name="Google Shape;89;p1" descr="텍스트, 원, 폰트, 로고이(가) 표시된 사진&#10;&#10;자동 생성된 설명"/>
          <p:cNvPicPr preferRelativeResize="0"/>
          <p:nvPr/>
        </p:nvPicPr>
        <p:blipFill rotWithShape="1">
          <a:blip r:embed="rId4">
            <a:alphaModFix amt="50000"/>
          </a:blip>
          <a:srcRect/>
          <a:stretch/>
        </p:blipFill>
        <p:spPr>
          <a:xfrm>
            <a:off x="1284194" y="2808194"/>
            <a:ext cx="4289612" cy="4289612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"/>
          <p:cNvSpPr txBox="1"/>
          <p:nvPr/>
        </p:nvSpPr>
        <p:spPr>
          <a:xfrm>
            <a:off x="712694" y="565075"/>
            <a:ext cx="5325035" cy="3587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lay"/>
              <a:buNone/>
            </a:pPr>
            <a:r>
              <a:rPr lang="ko-KR" sz="1400" b="0" i="0" u="none" strike="noStrike" cap="none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증 202</a:t>
            </a:r>
            <a:r>
              <a:rPr lang="ko-KR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6</a:t>
            </a:r>
            <a:r>
              <a:rPr lang="ko-KR" sz="1400" b="0" i="0" u="none" strike="noStrike" cap="none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-kcpec-</a:t>
            </a:r>
            <a:r>
              <a:rPr lang="ko-KR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9</a:t>
            </a:r>
            <a:r>
              <a:rPr lang="ko-KR" sz="1400" b="0" i="0" u="none" strike="noStrike" cap="none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0- 000</a:t>
            </a:r>
            <a:r>
              <a:rPr lang="ko-KR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02</a:t>
            </a:r>
            <a:r>
              <a:rPr lang="ko-KR" sz="1400" b="0" i="0" u="none" strike="noStrike" cap="none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 호   </a:t>
            </a:r>
            <a:endParaRPr sz="1400" b="0" i="0" u="none" strike="noStrike" cap="none">
              <a:solidFill>
                <a:srgbClr val="00000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  <a:sym typeface="Arial"/>
            </a:endParaRPr>
          </a:p>
        </p:txBody>
      </p:sp>
      <p:sp>
        <p:nvSpPr>
          <p:cNvPr id="91" name="Google Shape;91;p1"/>
          <p:cNvSpPr txBox="1">
            <a:spLocks noGrp="1"/>
          </p:cNvSpPr>
          <p:nvPr>
            <p:ph type="subTitle" idx="1"/>
          </p:nvPr>
        </p:nvSpPr>
        <p:spPr>
          <a:xfrm>
            <a:off x="813545" y="6104963"/>
            <a:ext cx="5197289" cy="11161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ko-KR" sz="160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Arial"/>
              </a:rPr>
              <a:t>위 사람은 한국범죄예방교육센터에서 실시한</a:t>
            </a:r>
            <a:endParaRPr sz="160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  <a:sym typeface="Arial"/>
            </a:endParaRPr>
          </a:p>
          <a:p>
            <a:pPr marL="0" lvl="0" indent="0" algn="ctr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ko-KR" sz="160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Arial"/>
              </a:rPr>
              <a:t>상기 교육과정을 성실히 이수하였으므로</a:t>
            </a:r>
            <a:endParaRPr sz="160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  <a:sym typeface="Arial"/>
            </a:endParaRPr>
          </a:p>
          <a:p>
            <a:pPr marL="0" lvl="0" indent="0" algn="ctr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ko-KR" sz="160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Arial"/>
              </a:rPr>
              <a:t>본 증서를 수여합니다.</a:t>
            </a:r>
            <a:endParaRPr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graphicFrame>
        <p:nvGraphicFramePr>
          <p:cNvPr id="92" name="Google Shape;92;p1"/>
          <p:cNvGraphicFramePr/>
          <p:nvPr/>
        </p:nvGraphicFramePr>
        <p:xfrm>
          <a:off x="813546" y="2245640"/>
          <a:ext cx="5197275" cy="3659675"/>
        </p:xfrm>
        <a:graphic>
          <a:graphicData uri="http://schemas.openxmlformats.org/drawingml/2006/table">
            <a:tbl>
              <a:tblPr firstRow="1" bandRow="1">
                <a:noFill/>
                <a:tableStyleId>{237AC679-0A41-4AD5-9BE9-B910355D5567}</a:tableStyleId>
              </a:tblPr>
              <a:tblGrid>
                <a:gridCol w="1035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31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90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25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 b="0" u="none" strike="noStrike" cap="none">
                          <a:solidFill>
                            <a:schemeClr val="dk1"/>
                          </a:solidFill>
                        </a:rPr>
                        <a:t>이수과정</a:t>
                      </a:r>
                      <a:endParaRPr sz="12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피싱범죄 </a:t>
                      </a:r>
                      <a:r>
                        <a:rPr lang="ko-KR" sz="12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예방교육</a:t>
                      </a:r>
                      <a:endParaRPr sz="12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 b="0" u="none" strike="noStrike" cap="none">
                          <a:solidFill>
                            <a:schemeClr val="dk1"/>
                          </a:solidFill>
                        </a:rPr>
                        <a:t>이수일자</a:t>
                      </a:r>
                      <a:endParaRPr sz="12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 b="0" u="none" strike="noStrike" cap="none"/>
                        <a:t>202</a:t>
                      </a:r>
                      <a:r>
                        <a:rPr lang="ko-KR" sz="1200" b="0"/>
                        <a:t>6</a:t>
                      </a:r>
                      <a:r>
                        <a:rPr lang="ko-KR" sz="1200" b="0" u="none" strike="noStrike" cap="none"/>
                        <a:t>년  </a:t>
                      </a:r>
                      <a:r>
                        <a:rPr lang="ko-KR" sz="1200" b="0"/>
                        <a:t>3</a:t>
                      </a:r>
                      <a:r>
                        <a:rPr lang="ko-KR" sz="1200" b="0" u="none" strike="noStrike" cap="none"/>
                        <a:t>월</a:t>
                      </a:r>
                      <a:r>
                        <a:rPr lang="ko-KR" sz="1200" b="0"/>
                        <a:t>  19</a:t>
                      </a:r>
                      <a:r>
                        <a:rPr lang="ko-KR" sz="1200" b="0" u="none" strike="noStrike" cap="none"/>
                        <a:t>일</a:t>
                      </a:r>
                      <a:endParaRPr sz="12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0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 b="0" u="none" strike="noStrike" cap="none">
                          <a:solidFill>
                            <a:schemeClr val="dk1"/>
                          </a:solidFill>
                        </a:rPr>
                        <a:t>성명</a:t>
                      </a:r>
                      <a:endParaRPr sz="12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이  겨  레</a:t>
                      </a:r>
                      <a:endParaRPr sz="12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생년월일</a:t>
                      </a:r>
                      <a:endParaRPr sz="1400" u="none" strike="noStrike" cap="none"/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/>
                        <a:t>  1993</a:t>
                      </a:r>
                      <a:r>
                        <a:rPr lang="ko-KR" sz="1200" u="none" strike="noStrike" cap="none"/>
                        <a:t>년 </a:t>
                      </a:r>
                      <a:r>
                        <a:rPr lang="ko-KR" sz="1200"/>
                        <a:t>3</a:t>
                      </a:r>
                      <a:r>
                        <a:rPr lang="ko-KR" sz="1200" u="none" strike="noStrike" cap="none"/>
                        <a:t>월</a:t>
                      </a:r>
                      <a:r>
                        <a:rPr lang="ko-KR" sz="1200"/>
                        <a:t>  31</a:t>
                      </a:r>
                      <a:r>
                        <a:rPr lang="ko-KR" sz="1200" u="none" strike="noStrike" cap="none"/>
                        <a:t>일</a:t>
                      </a:r>
                      <a:endParaRPr sz="12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70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endParaRPr sz="1350" b="0" u="none" strike="noStrike" cap="none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 b="0" u="none" strike="noStrike" cap="none"/>
                        <a:t>교육내용</a:t>
                      </a:r>
                      <a:endParaRPr sz="1400" u="none" strike="noStrike" cap="none"/>
                    </a:p>
                  </a:txBody>
                  <a:tcPr marL="91450" marR="91450" marT="45725" marB="45725">
                    <a:lnL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endParaRPr sz="1350" b="0" u="none" strike="noStrike" cap="none"/>
                    </a:p>
                    <a:p>
                      <a:pPr marL="228600" marR="0" lvl="0" indent="-22860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피싱범죄의 개념</a:t>
                      </a:r>
                      <a:endParaRPr sz="1200"/>
                    </a:p>
                    <a:p>
                      <a:pPr marL="228600" marR="0" lvl="0" indent="-22860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피싱범죄의 종류</a:t>
                      </a:r>
                      <a:endParaRPr sz="1200"/>
                    </a:p>
                    <a:p>
                      <a:pPr marL="228600" marR="0" lvl="0" indent="-22860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피싱범죄의 현황</a:t>
                      </a:r>
                      <a:endParaRPr sz="1200"/>
                    </a:p>
                    <a:p>
                      <a:pPr marL="228600" marR="0" lvl="0" indent="-22860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피싱범죄단체의 구조</a:t>
                      </a:r>
                      <a:endParaRPr sz="1200"/>
                    </a:p>
                    <a:p>
                      <a:pPr marL="228600" marR="0" lvl="0" indent="-22860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피싱범죄 처벌법규 및 양형</a:t>
                      </a:r>
                      <a:endParaRPr sz="1200"/>
                    </a:p>
                    <a:p>
                      <a:pPr marL="228600" marR="0" lvl="0" indent="-22860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1200"/>
                        <a:buAutoNum type="arabicPeriod"/>
                      </a:pPr>
                      <a:r>
                        <a:rPr lang="ko-KR" sz="1200"/>
                        <a:t>통신사기피해환급법의 내용</a:t>
                      </a:r>
                      <a:endParaRPr sz="1200"/>
                    </a:p>
                    <a:p>
                      <a:pPr marL="228600" marR="0" lvl="0" indent="-22860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1200"/>
                        <a:buAutoNum type="arabicPeriod"/>
                      </a:pPr>
                      <a:r>
                        <a:rPr lang="ko-KR" sz="1200"/>
                        <a:t>피싱범죄에 연루되지 않기 위한 행동전략</a:t>
                      </a:r>
                      <a:endParaRPr sz="1350" b="0" u="none" strike="noStrike" cap="none"/>
                    </a:p>
                  </a:txBody>
                  <a:tcPr marL="91450" marR="91450" marT="45725" marB="45725">
                    <a:lnL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68</Words>
  <Application>Microsoft Macintosh PowerPoint</Application>
  <PresentationFormat>A4 용지(210x297mm)</PresentationFormat>
  <Paragraphs>25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5" baseType="lpstr">
      <vt:lpstr>Pretendard</vt:lpstr>
      <vt:lpstr>Arial</vt:lpstr>
      <vt:lpstr>Play</vt:lpstr>
      <vt:lpstr>Office 테마</vt:lpstr>
      <vt:lpstr>수료증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2983</dc:creator>
  <cp:lastModifiedBy>김나현</cp:lastModifiedBy>
  <cp:revision>2</cp:revision>
  <dcterms:created xsi:type="dcterms:W3CDTF">2024-03-21T05:26:47Z</dcterms:created>
  <dcterms:modified xsi:type="dcterms:W3CDTF">2026-05-08T04:24:24Z</dcterms:modified>
</cp:coreProperties>
</file>