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</p:sldIdLst>
  <p:sldSz cy="9906000" cx="6858000"/>
  <p:notesSz cx="6858000" cy="9144000"/>
  <p:embeddedFontLst>
    <p:embeddedFont>
      <p:font typeface="Play"/>
      <p:regular r:id="rId7"/>
      <p:bold r:id="rId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9" roundtripDataSignature="AMtx7mja0ZgZpyvIrYBIqLgixEswif+5Y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D095AF3-300A-4F3D-A388-CE117FBC108A}">
  <a:tblStyle styleId="{8D095AF3-300A-4F3D-A388-CE117FBC108A}" styleName="Table_0">
    <a:wholeTbl>
      <a:tcTxStyle b="off" i="off">
        <a:font>
          <a:latin typeface="Aptos"/>
          <a:ea typeface="Aptos"/>
          <a:cs typeface="Aptos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7E9EC"/>
          </a:solidFill>
        </a:fill>
      </a:tcStyle>
    </a:wholeTbl>
    <a:band1H>
      <a:tcTxStyle b="off" i="off"/>
      <a:tcStyle>
        <a:fill>
          <a:solidFill>
            <a:srgbClr val="CAD1D8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CAD1D8"/>
          </a:solidFill>
        </a:fill>
      </a:tcStyle>
    </a:band1V>
    <a:band2V>
      <a:tcTxStyle b="off" i="off"/>
    </a:band2V>
    <a:lastCol>
      <a:tcTxStyle b="on" i="off">
        <a:font>
          <a:latin typeface="Aptos"/>
          <a:ea typeface="Aptos"/>
          <a:cs typeface="Aptos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Aptos"/>
          <a:ea typeface="Aptos"/>
          <a:cs typeface="Aptos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  <a:tblStyle styleId="{27C54902-F5D4-4C6E-BE8E-FD8B8E506B19}" styleName="Table_1">
    <a:wholeTbl>
      <a:tcTxStyle b="off" i="off">
        <a:font>
          <a:latin typeface="Aptos"/>
          <a:ea typeface="Aptos"/>
          <a:cs typeface="Aptos"/>
        </a:font>
        <a:schemeClr val="dk1"/>
      </a:tcTxStyle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fill>
          <a:solidFill>
            <a:schemeClr val="dk1">
              <a:alpha val="20000"/>
            </a:schemeClr>
          </a:solidFill>
        </a:fill>
      </a:tcStyle>
    </a:band1H>
    <a:band2H>
      <a:tcTxStyle b="off" i="off"/>
    </a:band2H>
    <a:band1V>
      <a:tcTxStyle b="off" i="off"/>
      <a:tcStyle>
        <a:fill>
          <a:solidFill>
            <a:schemeClr val="dk1">
              <a:alpha val="20000"/>
            </a:schemeClr>
          </a:solidFill>
        </a:fill>
      </a:tcStyle>
    </a:band1V>
    <a:band2V>
      <a:tcTxStyle b="off" i="off"/>
    </a:band2V>
    <a:lastCol>
      <a:tcTxStyle b="on" i="off"/>
    </a:lastCol>
    <a:firstCol>
      <a:tcTxStyle b="on" i="off"/>
    </a:firstCol>
    <a:lastRow>
      <a:tcTxStyle b="on" i="off"/>
      <a:tcStyle>
        <a:tcBdr>
          <a:top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rgbClr val="FFFFFF">
              <a:alpha val="0"/>
            </a:srgbClr>
          </a:solidFill>
        </a:fill>
      </a:tcStyle>
    </a:lastRow>
    <a:seCell>
      <a:tcTxStyle b="off" i="off"/>
    </a:seCell>
    <a:swCell>
      <a:tcTxStyle b="off" i="off"/>
    </a:swCell>
    <a:firstRow>
      <a:tcTxStyle b="on" i="off"/>
      <a:tcStyle>
        <a:tcBdr>
          <a:bottom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rgbClr val="FFFFFF">
              <a:alpha val="0"/>
            </a:srgbClr>
          </a:solidFill>
        </a:fill>
      </a:tcStyle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font" Target="fonts/Play-regular.fntdata"/><Relationship Id="rId8" Type="http://schemas.openxmlformats.org/officeDocument/2006/relationships/font" Target="fonts/Play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2241550" y="685800"/>
            <a:ext cx="23749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슬라이드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type="ctrTitle"/>
          </p:nvPr>
        </p:nvSpPr>
        <p:spPr>
          <a:xfrm>
            <a:off x="514350" y="1621191"/>
            <a:ext cx="5829300" cy="344875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3"/>
          <p:cNvSpPr txBox="1"/>
          <p:nvPr>
            <p:ph idx="1" type="subTitle"/>
          </p:nvPr>
        </p:nvSpPr>
        <p:spPr>
          <a:xfrm>
            <a:off x="857250" y="5202944"/>
            <a:ext cx="5143500" cy="2391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Google Shape;14;p3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내용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구역 머리글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467916" y="2469624"/>
            <a:ext cx="5915025" cy="41206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467916" y="6629226"/>
            <a:ext cx="5915025" cy="2166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500"/>
              <a:buNone/>
              <a:defRPr sz="15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350"/>
              <a:buNone/>
              <a:defRPr sz="135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26" name="Google Shape;26;p5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콘텐츠 2개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" type="body"/>
          </p:nvPr>
        </p:nvSpPr>
        <p:spPr>
          <a:xfrm>
            <a:off x="471488" y="2637014"/>
            <a:ext cx="2914650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2" type="body"/>
          </p:nvPr>
        </p:nvSpPr>
        <p:spPr>
          <a:xfrm>
            <a:off x="3471863" y="2637014"/>
            <a:ext cx="2914650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6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6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비교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>
            <p:ph type="title"/>
          </p:nvPr>
        </p:nvSpPr>
        <p:spPr>
          <a:xfrm>
            <a:off x="472381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7"/>
          <p:cNvSpPr txBox="1"/>
          <p:nvPr>
            <p:ph idx="1" type="body"/>
          </p:nvPr>
        </p:nvSpPr>
        <p:spPr>
          <a:xfrm>
            <a:off x="472381" y="2428347"/>
            <a:ext cx="2901255" cy="119009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9" name="Google Shape;39;p7"/>
          <p:cNvSpPr txBox="1"/>
          <p:nvPr>
            <p:ph idx="2" type="body"/>
          </p:nvPr>
        </p:nvSpPr>
        <p:spPr>
          <a:xfrm>
            <a:off x="472381" y="3618442"/>
            <a:ext cx="2901255" cy="53221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7"/>
          <p:cNvSpPr txBox="1"/>
          <p:nvPr>
            <p:ph idx="3" type="body"/>
          </p:nvPr>
        </p:nvSpPr>
        <p:spPr>
          <a:xfrm>
            <a:off x="3471863" y="2428347"/>
            <a:ext cx="2915543" cy="119009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1" name="Google Shape;41;p7"/>
          <p:cNvSpPr txBox="1"/>
          <p:nvPr>
            <p:ph idx="4" type="body"/>
          </p:nvPr>
        </p:nvSpPr>
        <p:spPr>
          <a:xfrm>
            <a:off x="3471863" y="3618442"/>
            <a:ext cx="2915543" cy="53221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7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7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만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8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8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8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8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빈 화면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9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9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캡션 있는 콘텐츠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/>
          <p:nvPr>
            <p:ph type="title"/>
          </p:nvPr>
        </p:nvSpPr>
        <p:spPr>
          <a:xfrm>
            <a:off x="472381" y="660400"/>
            <a:ext cx="2211884" cy="231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0"/>
          <p:cNvSpPr txBox="1"/>
          <p:nvPr>
            <p:ph idx="1" type="body"/>
          </p:nvPr>
        </p:nvSpPr>
        <p:spPr>
          <a:xfrm>
            <a:off x="2915543" y="1426283"/>
            <a:ext cx="3471863" cy="70396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Google Shape;57;p10"/>
          <p:cNvSpPr txBox="1"/>
          <p:nvPr>
            <p:ph idx="2" type="body"/>
          </p:nvPr>
        </p:nvSpPr>
        <p:spPr>
          <a:xfrm>
            <a:off x="472381" y="2971800"/>
            <a:ext cx="2211884" cy="55056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58" name="Google Shape;58;p10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0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0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캡션 있는 그림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1"/>
          <p:cNvSpPr txBox="1"/>
          <p:nvPr>
            <p:ph type="title"/>
          </p:nvPr>
        </p:nvSpPr>
        <p:spPr>
          <a:xfrm>
            <a:off x="472381" y="660400"/>
            <a:ext cx="2211884" cy="231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1"/>
          <p:cNvSpPr/>
          <p:nvPr>
            <p:ph idx="2" type="pic"/>
          </p:nvPr>
        </p:nvSpPr>
        <p:spPr>
          <a:xfrm>
            <a:off x="2915543" y="1426283"/>
            <a:ext cx="3471863" cy="7039681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1"/>
          <p:cNvSpPr txBox="1"/>
          <p:nvPr>
            <p:ph idx="1" type="body"/>
          </p:nvPr>
        </p:nvSpPr>
        <p:spPr>
          <a:xfrm>
            <a:off x="472381" y="2971800"/>
            <a:ext cx="2211884" cy="55056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65" name="Google Shape;65;p11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1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1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세로 텍스트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2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 rot="5400000">
            <a:off x="286367" y="2822135"/>
            <a:ext cx="6285266" cy="5915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2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세로 제목 및 텍스트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3"/>
          <p:cNvSpPr txBox="1"/>
          <p:nvPr>
            <p:ph type="title"/>
          </p:nvPr>
        </p:nvSpPr>
        <p:spPr>
          <a:xfrm rot="5400000">
            <a:off x="1449696" y="3985464"/>
            <a:ext cx="8394877" cy="14787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3"/>
          <p:cNvSpPr txBox="1"/>
          <p:nvPr>
            <p:ph idx="1" type="body"/>
          </p:nvPr>
        </p:nvSpPr>
        <p:spPr>
          <a:xfrm rot="5400000">
            <a:off x="-1550679" y="2549570"/>
            <a:ext cx="8394877" cy="43505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3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3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lay"/>
              <a:buNone/>
              <a:defRPr b="0" i="0" sz="33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2"/>
          <p:cNvSpPr txBox="1"/>
          <p:nvPr>
            <p:ph idx="1" type="body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2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2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2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4" name="Google Shape;84;p1"/>
          <p:cNvGraphicFramePr/>
          <p:nvPr/>
        </p:nvGraphicFramePr>
        <p:xfrm>
          <a:off x="460562" y="42246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{8D095AF3-300A-4F3D-A388-CE117FBC108A}</a:tableStyleId>
              </a:tblPr>
              <a:tblGrid>
                <a:gridCol w="5936875"/>
              </a:tblGrid>
              <a:tr h="9061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85" name="Google Shape;85;p1"/>
          <p:cNvSpPr txBox="1"/>
          <p:nvPr>
            <p:ph type="ctrTitle"/>
          </p:nvPr>
        </p:nvSpPr>
        <p:spPr>
          <a:xfrm>
            <a:off x="514349" y="1216338"/>
            <a:ext cx="5829300" cy="90685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</a:pPr>
            <a:r>
              <a:rPr b="1" lang="ko-KR" sz="3200"/>
              <a:t>수료증</a:t>
            </a:r>
            <a:endParaRPr/>
          </a:p>
        </p:txBody>
      </p:sp>
      <p:pic>
        <p:nvPicPr>
          <p:cNvPr descr="패턴, 레드, 예술, 그래픽이(가) 표시된 사진&#10;&#10;자동 생성된 설명" id="86" name="Google Shape;86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61331" y="8009965"/>
            <a:ext cx="1004046" cy="1004046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"/>
          <p:cNvSpPr txBox="1"/>
          <p:nvPr/>
        </p:nvSpPr>
        <p:spPr>
          <a:xfrm>
            <a:off x="1467410" y="8269941"/>
            <a:ext cx="2980206" cy="48409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lay"/>
              <a:buNone/>
            </a:pPr>
            <a:r>
              <a:rPr b="1" i="0" lang="ko-KR" sz="20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한국범죄예방교육센터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"/>
          <p:cNvSpPr txBox="1"/>
          <p:nvPr/>
        </p:nvSpPr>
        <p:spPr>
          <a:xfrm>
            <a:off x="1709456" y="7192681"/>
            <a:ext cx="3439085" cy="48409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lay"/>
              <a:buNone/>
            </a:pPr>
            <a:r>
              <a:rPr b="0" i="0" lang="ko-KR" sz="16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발급일자 : 202</a:t>
            </a:r>
            <a:r>
              <a:rPr lang="ko-KR" sz="16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6</a:t>
            </a:r>
            <a:r>
              <a:rPr b="0" i="0" lang="ko-KR" sz="16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년  </a:t>
            </a:r>
            <a:r>
              <a:rPr lang="ko-KR" sz="16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8</a:t>
            </a:r>
            <a:r>
              <a:rPr b="0" i="0" lang="ko-KR" sz="16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월</a:t>
            </a:r>
            <a:r>
              <a:rPr lang="ko-KR" sz="16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  7</a:t>
            </a:r>
            <a:r>
              <a:rPr b="0" i="0" lang="ko-KR" sz="16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일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텍스트, 원, 폰트, 로고이(가) 표시된 사진&#10;&#10;자동 생성된 설명" id="89" name="Google Shape;89;p1"/>
          <p:cNvPicPr preferRelativeResize="0"/>
          <p:nvPr/>
        </p:nvPicPr>
        <p:blipFill rotWithShape="1">
          <a:blip r:embed="rId4">
            <a:alphaModFix amt="50000"/>
          </a:blip>
          <a:srcRect b="0" l="0" r="0" t="0"/>
          <a:stretch/>
        </p:blipFill>
        <p:spPr>
          <a:xfrm>
            <a:off x="1284194" y="2808194"/>
            <a:ext cx="4289612" cy="4289612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"/>
          <p:cNvSpPr txBox="1"/>
          <p:nvPr/>
        </p:nvSpPr>
        <p:spPr>
          <a:xfrm>
            <a:off x="712694" y="565075"/>
            <a:ext cx="5325035" cy="3587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None/>
            </a:pPr>
            <a:r>
              <a:rPr b="0" i="0" lang="ko-KR" sz="1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증 202</a:t>
            </a:r>
            <a:r>
              <a:rPr lang="ko-KR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6</a:t>
            </a:r>
            <a:r>
              <a:rPr b="0" i="0" lang="ko-KR" sz="1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-kcpec-</a:t>
            </a:r>
            <a:r>
              <a:rPr lang="ko-KR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9</a:t>
            </a:r>
            <a:r>
              <a:rPr b="0" i="0" lang="ko-KR" sz="1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0- 000</a:t>
            </a:r>
            <a:r>
              <a:rPr lang="ko-KR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07</a:t>
            </a:r>
            <a:r>
              <a:rPr b="0" i="0" lang="ko-KR" sz="1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 호 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"/>
          <p:cNvSpPr txBox="1"/>
          <p:nvPr>
            <p:ph idx="1" type="subTitle"/>
          </p:nvPr>
        </p:nvSpPr>
        <p:spPr>
          <a:xfrm>
            <a:off x="813545" y="6104963"/>
            <a:ext cx="5197289" cy="1116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ko-KR" sz="1600">
                <a:latin typeface="Arial"/>
                <a:ea typeface="Arial"/>
                <a:cs typeface="Arial"/>
                <a:sym typeface="Arial"/>
              </a:rPr>
              <a:t>위 사람은 한국범죄예방교육센터에서 실시한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ko-KR" sz="1600">
                <a:latin typeface="Arial"/>
                <a:ea typeface="Arial"/>
                <a:cs typeface="Arial"/>
                <a:sym typeface="Arial"/>
              </a:rPr>
              <a:t>상기 교육과정을 성실히 이수하였으므로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ko-KR" sz="1600">
                <a:latin typeface="Arial"/>
                <a:ea typeface="Arial"/>
                <a:cs typeface="Arial"/>
                <a:sym typeface="Arial"/>
              </a:rPr>
              <a:t>본 증서를 수여합니다.</a:t>
            </a:r>
            <a:endParaRPr/>
          </a:p>
        </p:txBody>
      </p:sp>
      <p:graphicFrame>
        <p:nvGraphicFramePr>
          <p:cNvPr id="92" name="Google Shape;92;p1"/>
          <p:cNvGraphicFramePr/>
          <p:nvPr/>
        </p:nvGraphicFramePr>
        <p:xfrm>
          <a:off x="813546" y="224564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{27C54902-F5D4-4C6E-BE8E-FD8B8E506B19}</a:tableStyleId>
              </a:tblPr>
              <a:tblGrid>
                <a:gridCol w="1035450"/>
                <a:gridCol w="1563175"/>
                <a:gridCol w="1129600"/>
                <a:gridCol w="1469050"/>
              </a:tblGrid>
              <a:tr h="5625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ko-KR" sz="1200" u="none" cap="none" strike="noStrike">
                          <a:solidFill>
                            <a:schemeClr val="dk1"/>
                          </a:solidFill>
                        </a:rPr>
                        <a:t>이수과정</a:t>
                      </a:r>
                      <a:endParaRPr b="0"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ko-K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피싱범죄 </a:t>
                      </a:r>
                      <a:r>
                        <a:rPr b="0" lang="ko-KR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예방교육</a:t>
                      </a:r>
                      <a:endParaRPr b="0"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ko-KR" sz="1200" u="none" cap="none" strike="noStrike">
                          <a:solidFill>
                            <a:schemeClr val="dk1"/>
                          </a:solidFill>
                        </a:rPr>
                        <a:t>이수일자</a:t>
                      </a:r>
                      <a:endParaRPr b="0"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ko-KR" sz="1200" u="none" cap="none" strike="noStrike"/>
                        <a:t>202</a:t>
                      </a:r>
                      <a:r>
                        <a:rPr b="0" lang="ko-KR" sz="1200"/>
                        <a:t>6</a:t>
                      </a:r>
                      <a:r>
                        <a:rPr b="0" lang="ko-KR" sz="1200" u="none" cap="none" strike="noStrike"/>
                        <a:t>년  </a:t>
                      </a:r>
                      <a:r>
                        <a:rPr b="0" lang="ko-KR" sz="1200"/>
                        <a:t>8</a:t>
                      </a:r>
                      <a:r>
                        <a:rPr b="0" lang="ko-KR" sz="1200" u="none" cap="none" strike="noStrike"/>
                        <a:t>월</a:t>
                      </a:r>
                      <a:r>
                        <a:rPr b="0" lang="ko-KR" sz="1200"/>
                        <a:t>  7</a:t>
                      </a:r>
                      <a:r>
                        <a:rPr b="0" lang="ko-KR" sz="1200" u="none" cap="none" strike="noStrike"/>
                        <a:t>일</a:t>
                      </a:r>
                      <a:endParaRPr b="0"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30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ko-KR" sz="1200" u="none" cap="none" strike="noStrike">
                          <a:solidFill>
                            <a:schemeClr val="dk1"/>
                          </a:solidFill>
                        </a:rPr>
                        <a:t>성명</a:t>
                      </a:r>
                      <a:endParaRPr b="0"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조 은 해 </a:t>
                      </a:r>
                      <a:endParaRPr b="0"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ko-KR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생년월일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/>
                        <a:t> 1998</a:t>
                      </a:r>
                      <a:r>
                        <a:rPr lang="ko-KR" sz="1200" u="none" cap="none" strike="noStrike"/>
                        <a:t>년  </a:t>
                      </a:r>
                      <a:r>
                        <a:rPr lang="ko-KR" sz="1200"/>
                        <a:t>10</a:t>
                      </a:r>
                      <a:r>
                        <a:rPr lang="ko-KR" sz="1200" u="none" cap="none" strike="noStrike"/>
                        <a:t>월</a:t>
                      </a:r>
                      <a:r>
                        <a:rPr lang="ko-KR" sz="1200"/>
                        <a:t>  8</a:t>
                      </a:r>
                      <a:r>
                        <a:rPr lang="ko-KR" sz="1200" u="none" cap="none" strike="noStrike"/>
                        <a:t>일</a:t>
                      </a:r>
                      <a:endParaRPr b="0"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670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b="0" sz="135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ko-KR" sz="1200" u="none" cap="none" strike="noStrike"/>
                        <a:t>교육내용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3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b="0" sz="1350" u="none" cap="none" strike="noStrike"/>
                    </a:p>
                    <a:p>
                      <a:pPr indent="-228600" lvl="0" marL="2286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AutoNum type="arabicPeriod"/>
                      </a:pPr>
                      <a:r>
                        <a:rPr lang="ko-KR" sz="1200"/>
                        <a:t>피싱범죄의 개념</a:t>
                      </a:r>
                      <a:endParaRPr sz="1200"/>
                    </a:p>
                    <a:p>
                      <a:pPr indent="-228600" lvl="0" marL="2286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AutoNum type="arabicPeriod"/>
                      </a:pPr>
                      <a:r>
                        <a:rPr lang="ko-KR" sz="1200"/>
                        <a:t>피싱범죄의 종류</a:t>
                      </a:r>
                      <a:endParaRPr sz="1200"/>
                    </a:p>
                    <a:p>
                      <a:pPr indent="-228600" lvl="0" marL="2286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AutoNum type="arabicPeriod"/>
                      </a:pPr>
                      <a:r>
                        <a:rPr lang="ko-KR" sz="1200"/>
                        <a:t>피싱범죄의 현황</a:t>
                      </a:r>
                      <a:endParaRPr sz="1200"/>
                    </a:p>
                    <a:p>
                      <a:pPr indent="-228600" lvl="0" marL="2286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AutoNum type="arabicPeriod"/>
                      </a:pPr>
                      <a:r>
                        <a:rPr lang="ko-KR" sz="1200"/>
                        <a:t>피싱범죄단체의 구조</a:t>
                      </a:r>
                      <a:endParaRPr sz="1200"/>
                    </a:p>
                    <a:p>
                      <a:pPr indent="-228600" lvl="0" marL="2286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AutoNum type="arabicPeriod"/>
                      </a:pPr>
                      <a:r>
                        <a:rPr lang="ko-KR" sz="1200"/>
                        <a:t>피싱범죄 처벌법규 및 양형</a:t>
                      </a:r>
                      <a:endParaRPr sz="1200"/>
                    </a:p>
                    <a:p>
                      <a:pPr indent="-228600" lvl="0" marL="2286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AutoNum type="arabicPeriod"/>
                      </a:pPr>
                      <a:r>
                        <a:rPr lang="ko-KR" sz="1200"/>
                        <a:t>통신사기피해환급법의 내용</a:t>
                      </a:r>
                      <a:endParaRPr sz="1200"/>
                    </a:p>
                    <a:p>
                      <a:pPr indent="-228600" lvl="0" marL="2286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AutoNum type="arabicPeriod"/>
                      </a:pPr>
                      <a:r>
                        <a:rPr lang="ko-KR" sz="1200"/>
                        <a:t>피싱범죄에 연루되지 않기 위한 행동전략</a:t>
                      </a:r>
                      <a:endParaRPr b="0" sz="135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테마">
  <a:themeElements>
    <a:clrScheme name="Office 테마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2024-03-21T05:26:47Z</dcterms:created>
  <dc:creator>2983</dc:creator>
</cp:coreProperties>
</file>