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?>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</p:sldIdLst>
  <p:sldSz cy="9906000" cx="6858000"/>
  <p:notesSz cx="6858000" cy="9144000"/>
  <p:embeddedFontLst>
    <p:embeddedFont>
      <p:font typeface="Play"/>
      <p:regular r:id="rId7"/>
      <p:bold r:id="rId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9" roundtripDataSignature="AMtx7mhUH6BDyjHsHaXOyT6C+CKipTmE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A6F89BD-993E-4781-AB69-E1EB0C675C51}">
  <a:tblStyle styleId="{2A6F89BD-993E-4781-AB69-E1EB0C675C51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9EC"/>
          </a:solidFill>
        </a:fill>
      </a:tcStyle>
    </a:wholeTbl>
    <a:band1H>
      <a:tcTxStyle b="off" i="off"/>
      <a:tcStyle>
        <a:fill>
          <a:solidFill>
            <a:srgbClr val="CAD1D8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AD1D8"/>
          </a:solidFill>
        </a:fill>
      </a:tcStyle>
    </a:band1V>
    <a:band2V>
      <a:tcTxStyle b="off" i="off"/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9F02B573-CB64-41C1-B1F8-D909CE5B9BB4}" styleName="Table_1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fill>
          <a:solidFill>
            <a:schemeClr val="dk1">
              <a:alpha val="20000"/>
            </a:schemeClr>
          </a:solidFill>
        </a:fill>
      </a:tcStyle>
    </a:band1H>
    <a:band2H>
      <a:tcTxStyle b="off" i="off"/>
    </a:band2H>
    <a:band1V>
      <a:tcTxStyle b="off" i="off"/>
      <a:tcStyle>
        <a:fill>
          <a:solidFill>
            <a:schemeClr val="dk1">
              <a:alpha val="20000"/>
            </a:schemeClr>
          </a:solidFill>
        </a:fill>
      </a:tcStyle>
    </a:band1V>
    <a:band2V>
      <a:tcTxStyle b="off" i="off"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</a:seCell>
    <a:swCell>
      <a:tcTxStyle b="off" i="off"/>
    </a:swCell>
    <a:firstRow>
      <a:tcTxStyle b="on" i="off"/>
      <a:tcStyle>
        <a:tcBdr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</a:neCell>
    <a:nwCell>
      <a:tcTxStyle b="off" i="off"/>
    </a:nwCell>
  </a:tblStyle>
</a:tblStyleLst>
</file>

<file path=ppt/_rels/presentation.xml.rels><?xml version="1.0" encoding="UTF-8"?>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Play-regular.fntdata"/><Relationship Id="rId8" Type="http://schemas.openxmlformats.org/officeDocument/2006/relationships/font" Target="fonts/Play-bold.fntdata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514350" y="1621191"/>
            <a:ext cx="5829300" cy="34487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857250" y="5202944"/>
            <a:ext cx="5143500" cy="2391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Google Shape;14;p3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467916" y="2469624"/>
            <a:ext cx="5915025" cy="41206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467916" y="6629226"/>
            <a:ext cx="5915025" cy="2166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350"/>
              <a:buNone/>
              <a:defRPr sz="135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2" type="body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type="title"/>
          </p:nvPr>
        </p:nvSpPr>
        <p:spPr>
          <a:xfrm>
            <a:off x="472381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" type="body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Google Shape;39;p7"/>
          <p:cNvSpPr txBox="1"/>
          <p:nvPr>
            <p:ph idx="2" type="body"/>
          </p:nvPr>
        </p:nvSpPr>
        <p:spPr>
          <a:xfrm>
            <a:off x="472381" y="3618442"/>
            <a:ext cx="2901255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3" type="body"/>
          </p:nvPr>
        </p:nvSpPr>
        <p:spPr>
          <a:xfrm>
            <a:off x="3471863" y="2428347"/>
            <a:ext cx="2915543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Google Shape;41;p7"/>
          <p:cNvSpPr txBox="1"/>
          <p:nvPr>
            <p:ph idx="4" type="body"/>
          </p:nvPr>
        </p:nvSpPr>
        <p:spPr>
          <a:xfrm>
            <a:off x="3471863" y="3618442"/>
            <a:ext cx="2915543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58" name="Google Shape;58;p10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/>
          <p:nvPr>
            <p:ph idx="2" type="pic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5" name="Google Shape;65;p11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 rot="5400000">
            <a:off x="286367" y="2822135"/>
            <a:ext cx="6285266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 rot="5400000">
            <a:off x="1449696" y="3985464"/>
            <a:ext cx="8394877" cy="1478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 rot="5400000">
            <a:off x="-1550679" y="2549570"/>
            <a:ext cx="8394877" cy="435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  <a:defRPr b="0" i="0" sz="33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4" name="Google Shape;84;p1"/>
          <p:cNvGraphicFramePr/>
          <p:nvPr/>
        </p:nvGraphicFramePr>
        <p:xfrm>
          <a:off x="460562" y="4224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{2A6F89BD-993E-4781-AB69-E1EB0C675C51}</a:tableStyleId>
              </a:tblPr>
              <a:tblGrid>
                <a:gridCol w="5936875"/>
              </a:tblGrid>
              <a:tr h="9061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85" name="Google Shape;85;p1"/>
          <p:cNvSpPr txBox="1"/>
          <p:nvPr>
            <p:ph type="ctrTitle"/>
          </p:nvPr>
        </p:nvSpPr>
        <p:spPr>
          <a:xfrm>
            <a:off x="514349" y="1216338"/>
            <a:ext cx="5829300" cy="9068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ko-KR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 xml:space="preserve">폭력범죄 예방 실천</a:t>
            </a:r>
            <a:r>
              <a:rPr b="1" lang="ko-KR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 xml:space="preserve"> 서약서</a:t>
            </a:r>
            <a:r>
              <a:rPr lang="ko-KR" sz="2400"/>
              <a:t xml:space="preserve"> </a:t>
            </a:r>
            <a:endParaRPr b="1" sz="2400"/>
          </a:p>
        </p:txBody>
      </p:sp>
      <p:pic>
        <p:nvPicPr>
          <p:cNvPr descr="패턴, 레드, 예술, 그래픽이(가) 표시된 사진  자동 생성된 설명" id="86" name="Google Shape;8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61331" y="8009965"/>
            <a:ext cx="1004046" cy="1004046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 txBox="1"/>
          <p:nvPr/>
        </p:nvSpPr>
        <p:spPr>
          <a:xfrm>
            <a:off x="1467410" y="8269941"/>
            <a:ext cx="2980206" cy="48409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lay"/>
              <a:buNone/>
            </a:pPr>
            <a:r>
              <a:rPr b="1" i="0" lang="ko-KR" sz="2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한국범죄예방교육센터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1284200" y="6813075"/>
            <a:ext cx="4289700" cy="484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ko-K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서약일자 :   202</a:t>
            </a:r>
            <a:r>
              <a:rPr lang="ko-KR" sz="1600">
                <a:solidFill>
                  <a:schemeClr val="dk1"/>
                </a:solidFill>
              </a:rPr>
              <a:t>6</a:t>
            </a:r>
            <a:r>
              <a:rPr b="0" i="0" lang="ko-K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년     월       일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텍스트, 원, 폰트, 로고이(가) 표시된 사진  자동 생성된 설명" id="89" name="Google Shape;89;p1"/>
          <p:cNvPicPr preferRelativeResize="0"/>
          <p:nvPr/>
        </p:nvPicPr>
        <p:blipFill rotWithShape="1">
          <a:blip r:embed="rId4">
            <a:alphaModFix amt="50000"/>
          </a:blip>
          <a:srcRect b="0" l="0" r="0" t="0"/>
          <a:stretch/>
        </p:blipFill>
        <p:spPr>
          <a:xfrm>
            <a:off x="1284194" y="2808194"/>
            <a:ext cx="4289613" cy="4289613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 txBox="1"/>
          <p:nvPr/>
        </p:nvSpPr>
        <p:spPr>
          <a:xfrm>
            <a:off x="712694" y="565075"/>
            <a:ext cx="5325035" cy="3587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증 202</a:t>
            </a:r>
            <a:r>
              <a:rPr lang="ko-KR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6</a:t>
            </a:r>
            <a:r>
              <a:rPr b="0" i="0" lang="ko-KR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-kcpec-</a:t>
            </a:r>
            <a:r>
              <a:rPr lang="ko-KR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121</a:t>
            </a:r>
            <a:r>
              <a:rPr b="0" i="0" lang="ko-KR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- 000</a:t>
            </a:r>
            <a:r>
              <a:rPr lang="ko-KR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00 </a:t>
            </a:r>
            <a:r>
              <a:rPr b="0" i="0" lang="ko-KR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호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/>
          <p:nvPr>
            <p:ph idx="1" type="subTitle"/>
          </p:nvPr>
        </p:nvSpPr>
        <p:spPr>
          <a:xfrm>
            <a:off x="369823" y="5952200"/>
            <a:ext cx="60108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ko-K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 xml:space="preserve">   상기 사항을 숙지하고 성실히 준수하며, 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ko-K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 xml:space="preserve">위반 시 그 어떠한 처벌도 감수할 것을 다짐합니다.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92" name="Google Shape;92;p1"/>
          <p:cNvGraphicFramePr/>
          <p:nvPr/>
        </p:nvGraphicFramePr>
        <p:xfrm>
          <a:off x="813546" y="224563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{9F02B573-CB64-41C1-B1F8-D909CE5B9BB4}</a:tableStyleId>
              </a:tblPr>
              <a:tblGrid>
                <a:gridCol w="5230900"/>
              </a:tblGrid>
              <a:tr h="355370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 xml:space="preserve">본인 </a:t>
                      </a:r>
                      <a:r>
                        <a:rPr lang="ko-KR" sz="1200" u="sng">
                          <a:latin typeface="Arial"/>
                          <a:ea typeface="Arial"/>
                          <a:cs typeface="Arial"/>
                          <a:sym typeface="Arial"/>
                        </a:rPr>
                        <a:t xml:space="preserve">                    </a:t>
                      </a: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 xml:space="preserve"> 는(은) </a:t>
                      </a: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 xml:space="preserve">폭력범죄의 위험성과 중대성을 인식하고, 폭력범죄 근절과 건전한 사회 문화 구축에 기여할 것을 다짐하면서 다음과 같이 엄숙히 서약합니다.</a:t>
                      </a: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 xml:space="preserve"> </a:t>
                      </a:r>
                    </a:p>
                    <a:p>
                      <a:pPr indent="-342900" lvl="0" marL="34290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ko-KR" sz="12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 xml:space="preserve">하나, </a:t>
                      </a: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 xml:space="preserve">폭력범죄예방교육을 성실히 이수하고, 타인의 신체와 자유를 침해하지 않을 것을 굳게 다짐합니다.</a:t>
                      </a: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 xml:space="preserve"> </a:t>
                      </a:r>
                    </a:p>
                    <a:p>
                      <a:pPr indent="-342900" lvl="0" marL="34290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ko-KR" sz="12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 xml:space="preserve">하나, </a:t>
                      </a: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 xml:space="preserve">어떠한 상황에서도 폭력을 문제 해결의 수단으로 삼지 않고, 대화와 존중으로 갈등을 해결하겠습니다.</a:t>
                      </a: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 xml:space="preserve"> </a:t>
                      </a:r>
                    </a:p>
                    <a:p>
                      <a:pPr indent="-342900" lvl="0" marL="34290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ko-KR" sz="12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 xml:space="preserve">하나, </a:t>
                      </a: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 xml:space="preserve">폭력범죄의 위험성과 중대성을 되새기고, 건전한 준법문화 조성을 위하여 노력하겠습니다.</a:t>
                      </a: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3" name="Google Shape;93;p1"/>
          <p:cNvSpPr txBox="1"/>
          <p:nvPr/>
        </p:nvSpPr>
        <p:spPr>
          <a:xfrm>
            <a:off x="2770650" y="7477975"/>
            <a:ext cx="3273900" cy="351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lay"/>
              <a:buNone/>
            </a:pPr>
            <a:r>
              <a:rPr b="0" i="0" lang="ko-KR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서약자 :                                     (인)</a:t>
            </a:r>
            <a:endParaRPr b="0" i="0" sz="16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 테마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2024-03-21T05:26:47Z</dcterms:created>
  <dc:creator>2983</dc:creator>
</cp:coreProperties>
</file>